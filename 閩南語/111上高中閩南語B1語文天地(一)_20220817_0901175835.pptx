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7_A1A564A5.xml" ContentType="application/vnd.ms-powerpoint.comments+xml"/>
  <Override PartName="/ppt/comments/modernComment_108_44AFBA08.xml" ContentType="application/vnd.ms-powerpoint.comments+xml"/>
  <Override PartName="/ppt/comments/modernComment_109_41233CF6.xml" ContentType="application/vnd.ms-powerpoint.comments+xml"/>
  <Override PartName="/ppt/comments/modernComment_211_2D132E6B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9" r:id="rId2"/>
    <p:sldId id="52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529" r:id="rId12"/>
    <p:sldId id="267" r:id="rId13"/>
  </p:sldIdLst>
  <p:sldSz cx="12192000" cy="6858000"/>
  <p:notesSz cx="6858000" cy="9144000"/>
  <p:embeddedFontLst>
    <p:embeddedFont>
      <p:font typeface="台灣楷體" panose="02010604000101010101" pitchFamily="2" charset="-120"/>
      <p:regular r:id="rId14"/>
    </p:embeddedFont>
    <p:embeddedFont>
      <p:font typeface="微軟正黑體" panose="020B0604030504040204" pitchFamily="34" charset="-120"/>
      <p:regular r:id="rId15"/>
      <p:bold r:id="rId16"/>
    </p:embeddedFont>
    <p:embeddedFont>
      <p:font typeface="標楷體" panose="03000509000000000000" pitchFamily="65" charset="-12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Taiwanese Serif" panose="02000503000000020003" pitchFamily="2" charset="0"/>
      <p:regular r:id="rId24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342C9C-5913-392F-2540-4D8C573CBDFF}" name="365 KA" initials="3K" userId="eec6fbad31b3ba7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8700"/>
    <a:srgbClr val="D4F49A"/>
    <a:srgbClr val="82C300"/>
    <a:srgbClr val="AC6B19"/>
    <a:srgbClr val="E6DA9D"/>
    <a:srgbClr val="FDD8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comments/modernComment_107_A1A564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261D5E8-41AA-4239-BB2A-140E44EA773C}" authorId="{1A342C9C-5913-392F-2540-4D8C573CBDFF}" status="resolved" created="2022-08-17T06:41:30.57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11970981" sldId="263"/>
      <ac:spMk id="8" creationId="{90D79B40-1C06-F15D-DF2F-34FF8C8F2EBF}"/>
      <ac:txMk cp="52" len="2">
        <ac:context len="79" hash="3154403405"/>
      </ac:txMk>
    </ac:txMkLst>
    <p188:pos x="2872023" y="1371334"/>
    <p188:txBody>
      <a:bodyPr/>
      <a:lstStyle/>
      <a:p>
        <a:r>
          <a:rPr lang="zh-TW" altLang="en-US"/>
          <a:t>上下置中</a:t>
        </a:r>
      </a:p>
    </p188:txBody>
  </p188:cm>
</p188:cmLst>
</file>

<file path=ppt/comments/modernComment_108_44AFBA0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A9969A-4753-4231-9835-ABABEE7A5509}" authorId="{1A342C9C-5913-392F-2540-4D8C573CBDFF}" status="resolved" created="2022-08-17T06:45:33.11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52367112" sldId="264"/>
      <ac:spMk id="12" creationId="{16176084-494D-5710-C702-812317873C47}"/>
      <ac:txMk cp="0" len="3">
        <ac:context len="4" hash="1228846423"/>
      </ac:txMk>
    </ac:txMkLst>
    <p188:pos x="1781242" y="276775"/>
    <p188:txBody>
      <a:bodyPr/>
      <a:lstStyle/>
      <a:p>
        <a:r>
          <a:rPr lang="zh-TW" altLang="en-US"/>
          <a:t>字體與範例不同</a:t>
        </a:r>
      </a:p>
    </p188:txBody>
  </p188:cm>
  <p188:cm id="{CB689BAF-189A-442D-9BFD-1459E063FE11}" authorId="{1A342C9C-5913-392F-2540-4D8C573CBDFF}" status="resolved" created="2022-08-17T06:45:39.47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52367112" sldId="264"/>
      <ac:spMk id="14" creationId="{B081E822-0FEA-47C2-0FAD-9CC83C72AF4B}"/>
      <ac:txMk cp="0" len="6">
        <ac:context len="7" hash="2992261679"/>
      </ac:txMk>
    </ac:txMkLst>
    <p188:pos x="3298756" y="267995"/>
    <p188:txBody>
      <a:bodyPr/>
      <a:lstStyle/>
      <a:p>
        <a:r>
          <a:rPr lang="zh-TW" altLang="en-US"/>
          <a:t>字體與範例不同</a:t>
        </a:r>
      </a:p>
    </p188:txBody>
  </p188:cm>
</p188:cmLst>
</file>

<file path=ppt/comments/modernComment_109_41233C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A490D1-3C4D-464A-BEFC-6D5FE7AFC99F}" authorId="{1A342C9C-5913-392F-2540-4D8C573CBDFF}" status="resolved" created="2022-08-17T06:44:30.79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92828406" sldId="265"/>
      <ac:spMk id="13" creationId="{7D275CF0-563C-8811-E709-7E6DA70587B4}"/>
    </ac:deMkLst>
    <p188:txBody>
      <a:bodyPr/>
      <a:lstStyle/>
      <a:p>
        <a:r>
          <a:rPr lang="zh-TW" altLang="en-US"/>
          <a:t>字體與範例不同</a:t>
        </a:r>
      </a:p>
    </p188:txBody>
  </p188:cm>
</p188:cmLst>
</file>

<file path=ppt/comments/modernComment_211_2D132E6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B566FE-AA61-4906-AFC4-C5F114E8185F}" authorId="{1A342C9C-5913-392F-2540-4D8C573CBDFF}" status="resolved" created="2022-08-17T06:48:13.76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56231787" sldId="529"/>
      <ac:picMk id="4" creationId="{A31EC762-76CD-2814-AD08-3073BB6C39D1}"/>
    </ac:deMkLst>
    <p188:txBody>
      <a:bodyPr/>
      <a:lstStyle/>
      <a:p>
        <a:r>
          <a:rPr lang="zh-TW" altLang="en-US"/>
          <a:t>點了沒反應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277C8B-F33B-29B7-3970-F1F1220F3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C644F13-885F-E1C4-A9B0-0CF024E4F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1D7EFF-5E6D-747F-80B1-BC4F7302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904109-BFA7-F973-C102-3922C33FD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3C473F-15BD-D7A4-6EFE-4ADD8A87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66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D08504-D131-69A8-2BCD-0C0F28FD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3B6F4F-17D0-E9A8-F34C-A140D4985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9EDC60-C164-48A0-63B7-6C4541534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DF85D3-B51D-7B02-C847-4B40E849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5BDC79-4AFC-81FC-9826-BA091FAF0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654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F458D7-6A9A-DC63-1184-5998BA95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63073E-FB66-5674-3B15-260B3D5B0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2CA43F-0895-79B0-F932-09798FEA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B8332D-3DB5-AF20-DCEE-DDA49D38B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683A45-DCE4-40F2-A16B-83C72D91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88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3BC8BF-1681-604C-8EDC-AB41931E7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481BC-E7FB-CB76-31AA-DAD2D1915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19FA08-B26A-01A0-A8CA-B6813A5AF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98EDA6-FA5A-B2E8-1C3C-E6FD42A90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09EFC36-C241-7EA0-D0A1-D7E03AD9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374264-A85B-58CC-90E5-16BCEB06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07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F57A1A-AD92-6E43-1236-D880D218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09CABA4-7FAA-4D74-F826-09385104A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140357-ACB1-18B4-3C04-DD86BFAF3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2AD68E2-89A0-96B6-6B5C-7E91D0653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2BFEF41-891F-59CC-8438-AA211BF7F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5A84C5-A236-1856-38B0-151A4CA0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A5F2F22-B2C3-411C-7311-0D32B2D41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BE1229A-4D1B-B5A5-F21F-ACB45D56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960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98498E-66F2-3ED9-2250-B22F500A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A174FFB-B3D6-9EE1-81CD-1EE4E81D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C4B886A-EE6B-2671-3625-5BFEEBB4F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83684F-4F19-0232-3CB7-3753AF87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79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D22BBC4-BFE3-CCD8-75DE-00E7ED3C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08BCC31-9805-0E13-9F55-23072B73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93A237-ADFB-CB70-BDAC-2C8802102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4741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E7DA93-3F17-5B44-179B-DF6E8DB41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E4E6D6-7A6D-846B-D29C-164C49770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D9F985-8CA9-C67C-6E9A-AF70ECCC6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DADDD8F-0E41-B5F6-AC29-FA63BB39A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14F9CA3-7DF6-2BD2-FC7C-C0917695D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69DD20-007E-6EF1-3429-388D6546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80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E38389-F74A-4866-CEA3-55184AFD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12859B0-2B84-181C-7FBB-F13B97381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0B84519-B0CE-2230-3F13-36358C381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085494-B4A8-0BF0-FCCB-B39F0695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31A01F-DC36-B04D-9DDF-5665F34F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999212-CEFF-F280-A119-336EE5F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09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992B34-91E1-F625-E0C7-9EB8B2AB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77B8CE1-CFFE-DD1B-185A-18AF946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8CDE61-BFAC-5ADE-AE11-725F81CE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EE51C3-C935-CC3A-B7BE-EECA9078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ACA5D2-A830-696A-3D2A-A6DAA7C9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095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833A09E-BC36-9FE9-12E3-736EF5FFB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8217A4-DBD0-19CF-16C3-3B90CC4C1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9251D2-8DE4-6825-23F1-8C7F54C02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4A6CE3-0DB9-542A-682F-C5AD4C311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C5C125-4F60-C0A9-F14F-A820CD51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436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B383849-63B1-481E-9F05-E186F27F5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02CC12-EB94-0FF9-E48E-AA1DA6BF3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3AEA63-9B15-6210-6A3C-CB7EC7A22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6144E-B9CD-4169-8FC9-4F33C66F54A7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927E68-560E-A551-AB2C-54BF20D4A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C2FBDD-AD41-CCB0-C538-E739E790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80CC7-2478-4CE9-AA03-30A677F9A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967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Reikayy_8SLzoaAE6VHB4kAzKjEExGX2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wblg.dict.edu.tw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7_A1A564A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microsoft.com/office/2018/10/relationships/comments" Target="../comments/modernComment_108_44AFBA0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microsoft.com/office/2018/10/relationships/comments" Target="../comments/modernComment_109_41233CF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2.xml"/><Relationship Id="rId7" Type="http://schemas.openxmlformats.org/officeDocument/2006/relationships/slide" Target="slide1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211_2D132E6B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256BE1A-5C16-DA6C-CBB2-D861CC280F80}"/>
              </a:ext>
            </a:extLst>
          </p:cNvPr>
          <p:cNvSpPr txBox="1"/>
          <p:nvPr/>
        </p:nvSpPr>
        <p:spPr>
          <a:xfrm>
            <a:off x="8721865" y="1569856"/>
            <a:ext cx="3147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hlinkClick r:id="rId3"/>
              </a:rPr>
              <a:t>臺語字型安裝下載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文字方塊 2">
            <a:extLst>
              <a:ext uri="{FF2B5EF4-FFF2-40B4-BE49-F238E27FC236}">
                <a16:creationId xmlns:a16="http://schemas.microsoft.com/office/drawing/2014/main" id="{D1187C3B-E626-381F-79A8-0F72B23135AA}"/>
              </a:ext>
            </a:extLst>
          </p:cNvPr>
          <p:cNvSpPr txBox="1"/>
          <p:nvPr/>
        </p:nvSpPr>
        <p:spPr>
          <a:xfrm>
            <a:off x="10737756" y="639278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版本：</a:t>
            </a:r>
            <a:r>
              <a:rPr lang="en-US" altLang="zh-TW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20220817</a:t>
            </a:r>
            <a:endParaRPr lang="zh-TW" altLang="en-US" sz="1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82BAA15-6E73-1412-82A5-7BF3D6A3D5FF}"/>
              </a:ext>
            </a:extLst>
          </p:cNvPr>
          <p:cNvSpPr txBox="1"/>
          <p:nvPr/>
        </p:nvSpPr>
        <p:spPr>
          <a:xfrm>
            <a:off x="5982789" y="3198167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2748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9D96B6F7-D148-3692-EB6B-A9F52877E306}"/>
              </a:ext>
            </a:extLst>
          </p:cNvPr>
          <p:cNvSpPr txBox="1"/>
          <p:nvPr/>
        </p:nvSpPr>
        <p:spPr>
          <a:xfrm>
            <a:off x="867688" y="1989173"/>
            <a:ext cx="10555671" cy="1946593"/>
          </a:xfrm>
        </p:spPr>
        <p:txBody>
          <a:bodyPr vert="horz" lIns="91419" tIns="45709" rIns="91419" bIns="45709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TW" altLang="en-US" sz="6599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按怎使用教育部</a:t>
            </a:r>
            <a:r>
              <a:rPr lang="en-US" altLang="zh-TW" sz="6599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《</a:t>
            </a:r>
            <a:r>
              <a:rPr lang="zh-TW" altLang="en-US" sz="6599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臺灣閩南語常用詞辭典</a:t>
            </a:r>
            <a:r>
              <a:rPr lang="en-US" altLang="zh-TW" sz="6599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40EEA68-54B2-166C-5D46-53FD7045874D}"/>
              </a:ext>
            </a:extLst>
          </p:cNvPr>
          <p:cNvSpPr txBox="1"/>
          <p:nvPr/>
        </p:nvSpPr>
        <p:spPr>
          <a:xfrm>
            <a:off x="984615" y="3779498"/>
            <a:ext cx="5255367" cy="7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999" dirty="0">
                <a:latin typeface="Times New Roman" panose="02020603050405020304" pitchFamily="18" charset="0"/>
                <a:ea typeface="台灣楷體" panose="02010604000101010101" pitchFamily="2" charset="-12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US" altLang="zh-TW" sz="3999" dirty="0" err="1">
                <a:latin typeface="Times New Roman" panose="02020603050405020304" pitchFamily="18" charset="0"/>
                <a:ea typeface="台灣楷體" panose="02010604000101010101" pitchFamily="2" charset="-120"/>
                <a:cs typeface="Times New Roman" panose="02020603050405020304" pitchFamily="18" charset="0"/>
                <a:hlinkClick r:id="rId3"/>
              </a:rPr>
              <a:t>twblg.dict.edu.tw</a:t>
            </a:r>
            <a:endParaRPr lang="zh-TW" altLang="en-US" sz="3999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8B48594-B8DE-E540-7C2E-18B00D1EE6C0}"/>
              </a:ext>
            </a:extLst>
          </p:cNvPr>
          <p:cNvSpPr/>
          <p:nvPr/>
        </p:nvSpPr>
        <p:spPr>
          <a:xfrm>
            <a:off x="5951132" y="860089"/>
            <a:ext cx="5183376" cy="1123209"/>
          </a:xfrm>
          <a:prstGeom prst="roundRect">
            <a:avLst/>
          </a:prstGeom>
          <a:solidFill>
            <a:srgbClr val="E6D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5999" b="1" spc="600" dirty="0">
                <a:solidFill>
                  <a:srgbClr val="AC6B1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語文天地</a:t>
            </a:r>
            <a:r>
              <a:rPr lang="en-US" altLang="zh-TW" sz="5999" b="1" dirty="0">
                <a:solidFill>
                  <a:srgbClr val="AC6B1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5999" b="1" dirty="0">
                <a:solidFill>
                  <a:srgbClr val="AC6B1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sz="5999" b="1" dirty="0">
                <a:solidFill>
                  <a:srgbClr val="AC6B1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5999" b="1" dirty="0">
              <a:solidFill>
                <a:srgbClr val="AC6B17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矩形: 圓角 13">
            <a:hlinkClick r:id="rId4" action="ppaction://hlinksldjump"/>
            <a:extLst>
              <a:ext uri="{FF2B5EF4-FFF2-40B4-BE49-F238E27FC236}">
                <a16:creationId xmlns:a16="http://schemas.microsoft.com/office/drawing/2014/main" id="{6009BC5B-CE98-8978-7528-D0676F0DA896}"/>
              </a:ext>
            </a:extLst>
          </p:cNvPr>
          <p:cNvSpPr/>
          <p:nvPr/>
        </p:nvSpPr>
        <p:spPr>
          <a:xfrm>
            <a:off x="1128598" y="4708548"/>
            <a:ext cx="1655801" cy="952183"/>
          </a:xfrm>
          <a:prstGeom prst="roundRect">
            <a:avLst/>
          </a:prstGeom>
          <a:solidFill>
            <a:srgbClr val="E6D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599" b="1" dirty="0">
                <a:solidFill>
                  <a:srgbClr val="AC6B1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正文</a:t>
            </a:r>
          </a:p>
        </p:txBody>
      </p:sp>
      <p:sp>
        <p:nvSpPr>
          <p:cNvPr id="15" name="矩形: 圓角 14">
            <a:hlinkClick r:id="rId5" action="ppaction://hlinksldjump"/>
            <a:extLst>
              <a:ext uri="{FF2B5EF4-FFF2-40B4-BE49-F238E27FC236}">
                <a16:creationId xmlns:a16="http://schemas.microsoft.com/office/drawing/2014/main" id="{7D8C579A-6010-74C8-A2F0-FA2A7C962496}"/>
              </a:ext>
            </a:extLst>
          </p:cNvPr>
          <p:cNvSpPr/>
          <p:nvPr/>
        </p:nvSpPr>
        <p:spPr>
          <a:xfrm>
            <a:off x="3720286" y="4708548"/>
            <a:ext cx="2159740" cy="952183"/>
          </a:xfrm>
          <a:prstGeom prst="roundRect">
            <a:avLst/>
          </a:prstGeom>
          <a:solidFill>
            <a:srgbClr val="E6D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599" b="1" dirty="0">
                <a:solidFill>
                  <a:srgbClr val="AC6B1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練習看覓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785C8D8A-2EA2-A3D4-A6BC-D26F668C9F90}"/>
              </a:ext>
            </a:extLst>
          </p:cNvPr>
          <p:cNvCxnSpPr/>
          <p:nvPr/>
        </p:nvCxnSpPr>
        <p:spPr>
          <a:xfrm>
            <a:off x="6838950" y="0"/>
            <a:ext cx="0" cy="860089"/>
          </a:xfrm>
          <a:prstGeom prst="line">
            <a:avLst/>
          </a:prstGeom>
          <a:ln w="28575"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E79D99CF-2220-CC37-0427-BB21BEFB68D1}"/>
              </a:ext>
            </a:extLst>
          </p:cNvPr>
          <p:cNvCxnSpPr/>
          <p:nvPr/>
        </p:nvCxnSpPr>
        <p:spPr>
          <a:xfrm>
            <a:off x="10296525" y="0"/>
            <a:ext cx="0" cy="860089"/>
          </a:xfrm>
          <a:prstGeom prst="line">
            <a:avLst/>
          </a:prstGeom>
          <a:ln w="28575"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35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F4937A58-6625-1D79-B4A4-5432F28C965A}"/>
              </a:ext>
            </a:extLst>
          </p:cNvPr>
          <p:cNvSpPr txBox="1"/>
          <p:nvPr/>
        </p:nvSpPr>
        <p:spPr>
          <a:xfrm>
            <a:off x="-76200" y="49601"/>
            <a:ext cx="6172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按怎使用教育部</a:t>
            </a:r>
            <a:r>
              <a:rPr lang="en-US" altLang="zh-TW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《</a:t>
            </a:r>
            <a:r>
              <a:rPr lang="zh-TW" altLang="en-US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臺灣閩南語常用詞辭典</a:t>
            </a:r>
            <a:r>
              <a:rPr lang="en-US" altLang="zh-TW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》</a:t>
            </a:r>
          </a:p>
          <a:p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B5033B-21FE-F745-64C0-937B08B6950F}"/>
              </a:ext>
            </a:extLst>
          </p:cNvPr>
          <p:cNvSpPr/>
          <p:nvPr/>
        </p:nvSpPr>
        <p:spPr>
          <a:xfrm flipV="1">
            <a:off x="-17419" y="6557562"/>
            <a:ext cx="11506810" cy="3004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C3F7A65-A050-21F2-321A-706A9BBC1EE5}"/>
              </a:ext>
            </a:extLst>
          </p:cNvPr>
          <p:cNvSpPr txBox="1"/>
          <p:nvPr/>
        </p:nvSpPr>
        <p:spPr>
          <a:xfrm>
            <a:off x="11506809" y="5303181"/>
            <a:ext cx="70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6EF69B-F563-C433-9D39-124BF16AEC10}"/>
              </a:ext>
            </a:extLst>
          </p:cNvPr>
          <p:cNvSpPr txBox="1"/>
          <p:nvPr/>
        </p:nvSpPr>
        <p:spPr>
          <a:xfrm>
            <a:off x="11685864" y="5915637"/>
            <a:ext cx="48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8477CD-74CF-3AC7-083A-CDCDF594F3D6}"/>
              </a:ext>
            </a:extLst>
          </p:cNvPr>
          <p:cNvSpPr/>
          <p:nvPr/>
        </p:nvSpPr>
        <p:spPr>
          <a:xfrm>
            <a:off x="11576985" y="780649"/>
            <a:ext cx="519764" cy="2285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語文天地</a:t>
            </a:r>
            <a:endParaRPr lang="en-US" altLang="zh-TW" sz="36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zh-TW" altLang="en-US" dirty="0"/>
          </a:p>
        </p:txBody>
      </p:sp>
      <p:pic>
        <p:nvPicPr>
          <p:cNvPr id="7" name="圖片 6">
            <a:hlinkClick r:id="rId3" action="ppaction://hlinksldjump"/>
            <a:extLst>
              <a:ext uri="{FF2B5EF4-FFF2-40B4-BE49-F238E27FC236}">
                <a16:creationId xmlns:a16="http://schemas.microsoft.com/office/drawing/2014/main" id="{838C383F-E527-D7A2-0777-F3EC01FAD1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58" y="84435"/>
            <a:ext cx="594124" cy="5766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D79B40-1C06-F15D-DF2F-34FF8C8F2EBF}"/>
              </a:ext>
            </a:extLst>
          </p:cNvPr>
          <p:cNvSpPr txBox="1"/>
          <p:nvPr/>
        </p:nvSpPr>
        <p:spPr>
          <a:xfrm>
            <a:off x="211646" y="1341499"/>
            <a:ext cx="49823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　　</a:t>
            </a:r>
            <a:r>
              <a:rPr lang="en-US" altLang="zh-TW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《</a:t>
            </a:r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臺灣閩南語常用詞辭典</a:t>
            </a:r>
            <a:r>
              <a:rPr lang="en-US" altLang="zh-TW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》</a:t>
            </a:r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是一本線頂辭典，教育部國語推行委員會佇民國</a:t>
            </a:r>
            <a:r>
              <a:rPr lang="en-US" altLang="zh-TW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97</a:t>
            </a:r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年</a:t>
            </a:r>
            <a:r>
              <a:rPr lang="en-US" altLang="zh-TW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10</a:t>
            </a:r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月踮臺灣學術網路推出試用版，民國</a:t>
            </a:r>
            <a:r>
              <a:rPr lang="en-US" altLang="zh-TW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100</a:t>
            </a:r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年</a:t>
            </a:r>
            <a:r>
              <a:rPr lang="en-US" altLang="zh-TW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7</a:t>
            </a:r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月推出正式版。</a:t>
            </a:r>
            <a:endParaRPr lang="zh-TW" altLang="en-US" sz="3600" dirty="0"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359166-4CB9-DA66-D31F-D7442AE7A6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0855" y="1207511"/>
            <a:ext cx="5558369" cy="547088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0D08E54-40AF-9FBF-4A10-127590F25F02}"/>
              </a:ext>
            </a:extLst>
          </p:cNvPr>
          <p:cNvSpPr/>
          <p:nvPr/>
        </p:nvSpPr>
        <p:spPr>
          <a:xfrm>
            <a:off x="0" y="536665"/>
            <a:ext cx="5772150" cy="8958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B342271-2DBB-9C06-D1FB-98CB433C8A00}"/>
              </a:ext>
            </a:extLst>
          </p:cNvPr>
          <p:cNvSpPr txBox="1"/>
          <p:nvPr/>
        </p:nvSpPr>
        <p:spPr>
          <a:xfrm>
            <a:off x="5463991" y="670831"/>
            <a:ext cx="2434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【</a:t>
            </a:r>
            <a:r>
              <a:rPr lang="zh-TW" altLang="en-US" sz="2800" dirty="0">
                <a:latin typeface="台灣楷體" panose="02010604000101010101" pitchFamily="2" charset="-120"/>
                <a:ea typeface="台灣楷體" panose="02010604000101010101" pitchFamily="2" charset="-120"/>
              </a:rPr>
              <a:t>電腦</a:t>
            </a:r>
            <a:r>
              <a:rPr lang="zh-TW" altLang="en-US" sz="28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版</a:t>
            </a:r>
            <a:r>
              <a:rPr lang="en-US" altLang="zh-TW" sz="28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】</a:t>
            </a:r>
            <a:endParaRPr lang="zh-TW" altLang="en-US" sz="2800" dirty="0"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475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C3F7A65-A050-21F2-321A-706A9BBC1EE5}"/>
              </a:ext>
            </a:extLst>
          </p:cNvPr>
          <p:cNvSpPr txBox="1"/>
          <p:nvPr/>
        </p:nvSpPr>
        <p:spPr>
          <a:xfrm>
            <a:off x="11506809" y="5303181"/>
            <a:ext cx="70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6EF69B-F563-C433-9D39-124BF16AEC10}"/>
              </a:ext>
            </a:extLst>
          </p:cNvPr>
          <p:cNvSpPr txBox="1"/>
          <p:nvPr/>
        </p:nvSpPr>
        <p:spPr>
          <a:xfrm>
            <a:off x="11685864" y="5915637"/>
            <a:ext cx="48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02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8477CD-74CF-3AC7-083A-CDCDF594F3D6}"/>
              </a:ext>
            </a:extLst>
          </p:cNvPr>
          <p:cNvSpPr/>
          <p:nvPr/>
        </p:nvSpPr>
        <p:spPr>
          <a:xfrm>
            <a:off x="11576985" y="685399"/>
            <a:ext cx="519764" cy="2285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語文天地</a:t>
            </a:r>
            <a:endParaRPr lang="zh-TW" altLang="en-US" dirty="0"/>
          </a:p>
        </p:txBody>
      </p:sp>
      <p:pic>
        <p:nvPicPr>
          <p:cNvPr id="7" name="圖片 6">
            <a:hlinkClick r:id="rId3" action="ppaction://hlinksldjump"/>
            <a:extLst>
              <a:ext uri="{FF2B5EF4-FFF2-40B4-BE49-F238E27FC236}">
                <a16:creationId xmlns:a16="http://schemas.microsoft.com/office/drawing/2014/main" id="{838C383F-E527-D7A2-0777-F3EC01FAD1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58" y="84435"/>
            <a:ext cx="594124" cy="5766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D79B40-1C06-F15D-DF2F-34FF8C8F2EBF}"/>
              </a:ext>
            </a:extLst>
          </p:cNvPr>
          <p:cNvSpPr txBox="1"/>
          <p:nvPr/>
        </p:nvSpPr>
        <p:spPr>
          <a:xfrm>
            <a:off x="211646" y="749228"/>
            <a:ext cx="498237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　　辭典查詢的方法誠濟，會當直接輸入閩南語抑是華語的漢字來搜揣，嘛會當用羅馬字，閣會當用「聲韻調」、「分類」、「部首筆畫」來查，誠利便。上重要的是，這本線頂辭典會出聲，咱佇辭典查著的詞，伊會當唸予你聽。</a:t>
            </a:r>
            <a:endParaRPr lang="zh-TW" altLang="en-US" sz="3600" dirty="0"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359166-4CB9-DA66-D31F-D7442AE7A6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33102" y="1381343"/>
            <a:ext cx="5879114" cy="429627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6AB1D87-6EAD-37A3-C33E-E5F1D940FE72}"/>
              </a:ext>
            </a:extLst>
          </p:cNvPr>
          <p:cNvSpPr txBox="1"/>
          <p:nvPr/>
        </p:nvSpPr>
        <p:spPr>
          <a:xfrm>
            <a:off x="5228860" y="784048"/>
            <a:ext cx="2434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【</a:t>
            </a:r>
            <a:r>
              <a:rPr lang="zh-TW" altLang="en-US" sz="28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手機仔版</a:t>
            </a:r>
            <a:r>
              <a:rPr lang="en-US" altLang="zh-TW" sz="28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】</a:t>
            </a:r>
            <a:endParaRPr lang="zh-TW" altLang="en-US" sz="2800" dirty="0"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A5F5F4-6099-EDDE-306B-6570B21AE5A3}"/>
              </a:ext>
            </a:extLst>
          </p:cNvPr>
          <p:cNvSpPr/>
          <p:nvPr/>
        </p:nvSpPr>
        <p:spPr>
          <a:xfrm flipV="1">
            <a:off x="-17419" y="6557562"/>
            <a:ext cx="11506810" cy="3004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9678B64-E0CD-DD38-FCF0-C11DF343B57A}"/>
              </a:ext>
            </a:extLst>
          </p:cNvPr>
          <p:cNvSpPr txBox="1"/>
          <p:nvPr/>
        </p:nvSpPr>
        <p:spPr>
          <a:xfrm>
            <a:off x="-76200" y="49601"/>
            <a:ext cx="6172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按怎使用教育部</a:t>
            </a:r>
            <a:r>
              <a:rPr lang="en-US" altLang="zh-TW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《</a:t>
            </a:r>
            <a:r>
              <a:rPr lang="zh-TW" altLang="en-US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臺灣閩南語常用詞辭典</a:t>
            </a:r>
            <a:r>
              <a:rPr lang="en-US" altLang="zh-TW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》</a:t>
            </a:r>
          </a:p>
          <a:p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8CF6BA-46F5-4D35-1715-954B1CCCC0D5}"/>
              </a:ext>
            </a:extLst>
          </p:cNvPr>
          <p:cNvSpPr/>
          <p:nvPr/>
        </p:nvSpPr>
        <p:spPr>
          <a:xfrm>
            <a:off x="0" y="536665"/>
            <a:ext cx="5772150" cy="8958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4142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C3F7A65-A050-21F2-321A-706A9BBC1EE5}"/>
              </a:ext>
            </a:extLst>
          </p:cNvPr>
          <p:cNvSpPr txBox="1"/>
          <p:nvPr/>
        </p:nvSpPr>
        <p:spPr>
          <a:xfrm>
            <a:off x="11506809" y="5303181"/>
            <a:ext cx="70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6EF69B-F563-C433-9D39-124BF16AEC10}"/>
              </a:ext>
            </a:extLst>
          </p:cNvPr>
          <p:cNvSpPr txBox="1"/>
          <p:nvPr/>
        </p:nvSpPr>
        <p:spPr>
          <a:xfrm>
            <a:off x="11685864" y="5915637"/>
            <a:ext cx="48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03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8477CD-74CF-3AC7-083A-CDCDF594F3D6}"/>
              </a:ext>
            </a:extLst>
          </p:cNvPr>
          <p:cNvSpPr/>
          <p:nvPr/>
        </p:nvSpPr>
        <p:spPr>
          <a:xfrm>
            <a:off x="11576985" y="780649"/>
            <a:ext cx="519764" cy="2285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語文天地</a:t>
            </a:r>
            <a:endParaRPr lang="zh-TW" altLang="en-US" dirty="0"/>
          </a:p>
        </p:txBody>
      </p:sp>
      <p:pic>
        <p:nvPicPr>
          <p:cNvPr id="7" name="圖片 6">
            <a:hlinkClick r:id="rId3" action="ppaction://hlinksldjump"/>
            <a:extLst>
              <a:ext uri="{FF2B5EF4-FFF2-40B4-BE49-F238E27FC236}">
                <a16:creationId xmlns:a16="http://schemas.microsoft.com/office/drawing/2014/main" id="{838C383F-E527-D7A2-0777-F3EC01FAD1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58" y="84435"/>
            <a:ext cx="594124" cy="5766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D79B40-1C06-F15D-DF2F-34FF8C8F2EBF}"/>
              </a:ext>
            </a:extLst>
          </p:cNvPr>
          <p:cNvSpPr txBox="1"/>
          <p:nvPr/>
        </p:nvSpPr>
        <p:spPr>
          <a:xfrm>
            <a:off x="211645" y="708794"/>
            <a:ext cx="111577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　　另外，辭典的附錄內底有分類收集一寡仔閩南語用詞，譬如：俗諺、地名、節氣、親情關係、人體器官等等，通好參考。</a:t>
            </a:r>
            <a:endParaRPr lang="zh-TW" altLang="en-US" sz="3600" dirty="0"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EF0E8BC-B00A-1199-EC91-3225CACF70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722" y="2506558"/>
            <a:ext cx="8628556" cy="389265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3E64A75-10B0-AC3D-1BBD-1D4D3A5DF0F0}"/>
              </a:ext>
            </a:extLst>
          </p:cNvPr>
          <p:cNvSpPr/>
          <p:nvPr/>
        </p:nvSpPr>
        <p:spPr>
          <a:xfrm flipV="1">
            <a:off x="-17419" y="6557562"/>
            <a:ext cx="11506810" cy="3004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F901B5F-5F36-4C7A-F7EB-15A8EFC31673}"/>
              </a:ext>
            </a:extLst>
          </p:cNvPr>
          <p:cNvSpPr txBox="1"/>
          <p:nvPr/>
        </p:nvSpPr>
        <p:spPr>
          <a:xfrm>
            <a:off x="-76200" y="49601"/>
            <a:ext cx="6172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按怎使用教育部</a:t>
            </a:r>
            <a:r>
              <a:rPr lang="en-US" altLang="zh-TW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《</a:t>
            </a:r>
            <a:r>
              <a:rPr lang="zh-TW" altLang="en-US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臺灣閩南語常用詞辭典</a:t>
            </a:r>
            <a:r>
              <a:rPr lang="en-US" altLang="zh-TW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》</a:t>
            </a:r>
          </a:p>
          <a:p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DEC075-397C-D592-8503-9BD6A8E395A8}"/>
              </a:ext>
            </a:extLst>
          </p:cNvPr>
          <p:cNvSpPr/>
          <p:nvPr/>
        </p:nvSpPr>
        <p:spPr>
          <a:xfrm>
            <a:off x="0" y="536665"/>
            <a:ext cx="5772150" cy="8958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38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C3F7A65-A050-21F2-321A-706A9BBC1EE5}"/>
              </a:ext>
            </a:extLst>
          </p:cNvPr>
          <p:cNvSpPr txBox="1"/>
          <p:nvPr/>
        </p:nvSpPr>
        <p:spPr>
          <a:xfrm>
            <a:off x="11506809" y="5303181"/>
            <a:ext cx="70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6EF69B-F563-C433-9D39-124BF16AEC10}"/>
              </a:ext>
            </a:extLst>
          </p:cNvPr>
          <p:cNvSpPr txBox="1"/>
          <p:nvPr/>
        </p:nvSpPr>
        <p:spPr>
          <a:xfrm>
            <a:off x="11685864" y="5915637"/>
            <a:ext cx="48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04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8477CD-74CF-3AC7-083A-CDCDF594F3D6}"/>
              </a:ext>
            </a:extLst>
          </p:cNvPr>
          <p:cNvSpPr/>
          <p:nvPr/>
        </p:nvSpPr>
        <p:spPr>
          <a:xfrm>
            <a:off x="11576985" y="780649"/>
            <a:ext cx="519764" cy="2285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語文天地</a:t>
            </a:r>
            <a:endParaRPr lang="zh-TW" altLang="en-US" dirty="0"/>
          </a:p>
        </p:txBody>
      </p:sp>
      <p:pic>
        <p:nvPicPr>
          <p:cNvPr id="7" name="圖片 6">
            <a:hlinkClick r:id="rId4" action="ppaction://hlinksldjump"/>
            <a:extLst>
              <a:ext uri="{FF2B5EF4-FFF2-40B4-BE49-F238E27FC236}">
                <a16:creationId xmlns:a16="http://schemas.microsoft.com/office/drawing/2014/main" id="{838C383F-E527-D7A2-0777-F3EC01FAD1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58" y="84435"/>
            <a:ext cx="594124" cy="5766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D79B40-1C06-F15D-DF2F-34FF8C8F2EBF}"/>
              </a:ext>
            </a:extLst>
          </p:cNvPr>
          <p:cNvSpPr txBox="1"/>
          <p:nvPr/>
        </p:nvSpPr>
        <p:spPr>
          <a:xfrm>
            <a:off x="211645" y="622836"/>
            <a:ext cx="111577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　　辭典閣有幾个相關的資源連結，有「臺羅拼音建議字型」、「臺灣閩南語漢字輸入法」、「閩南語姓名查詢網站」</a:t>
            </a:r>
            <a:r>
              <a:rPr lang="en-US" altLang="zh-TW" sz="3600" b="0" i="0" u="none" strike="noStrike" baseline="30000" dirty="0">
                <a:latin typeface="台灣楷體" panose="02010604000101010101" pitchFamily="2" charset="-120"/>
                <a:ea typeface="台灣楷體" panose="02010604000101010101" pitchFamily="2" charset="-120"/>
              </a:rPr>
              <a:t>……</a:t>
            </a:r>
            <a:r>
              <a:rPr lang="zh-TW" altLang="en-US" sz="36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攏是學習閩南語、使用閩南語的時陣，真好用的工具。</a:t>
            </a:r>
            <a:endParaRPr lang="zh-TW" altLang="en-US" sz="3600" dirty="0"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4D7CE4-A813-73C4-A432-415D0B854037}"/>
              </a:ext>
            </a:extLst>
          </p:cNvPr>
          <p:cNvSpPr/>
          <p:nvPr/>
        </p:nvSpPr>
        <p:spPr>
          <a:xfrm flipV="1">
            <a:off x="-17419" y="6557562"/>
            <a:ext cx="11506810" cy="3004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045D3DA-724A-576F-85A3-2744BCB5A84C}"/>
              </a:ext>
            </a:extLst>
          </p:cNvPr>
          <p:cNvSpPr txBox="1"/>
          <p:nvPr/>
        </p:nvSpPr>
        <p:spPr>
          <a:xfrm>
            <a:off x="-76200" y="49601"/>
            <a:ext cx="6172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按怎使用教育部</a:t>
            </a:r>
            <a:r>
              <a:rPr lang="en-US" altLang="zh-TW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《</a:t>
            </a:r>
            <a:r>
              <a:rPr lang="zh-TW" altLang="en-US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臺灣閩南語常用詞辭典</a:t>
            </a:r>
            <a:r>
              <a:rPr lang="en-US" altLang="zh-TW" sz="2400" b="1" kern="1200" dirty="0">
                <a:latin typeface="台灣楷體" panose="02010604000101010101" pitchFamily="2" charset="-120"/>
                <a:ea typeface="台灣楷體" panose="02010604000101010101" pitchFamily="2" charset="-120"/>
                <a:cs typeface="+mj-cs"/>
              </a:rPr>
              <a:t>》</a:t>
            </a:r>
          </a:p>
          <a:p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929563-6DD1-2FC0-1BC5-20B91F758B84}"/>
              </a:ext>
            </a:extLst>
          </p:cNvPr>
          <p:cNvSpPr/>
          <p:nvPr/>
        </p:nvSpPr>
        <p:spPr>
          <a:xfrm>
            <a:off x="0" y="536665"/>
            <a:ext cx="5772150" cy="8958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 descr="一張含有 文字 的圖片&#10;&#10;自動產生的描述">
            <a:extLst>
              <a:ext uri="{FF2B5EF4-FFF2-40B4-BE49-F238E27FC236}">
                <a16:creationId xmlns:a16="http://schemas.microsoft.com/office/drawing/2014/main" id="{6FF11DF2-35D2-FAED-9102-F17D059382E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2"/>
          <a:stretch/>
        </p:blipFill>
        <p:spPr>
          <a:xfrm>
            <a:off x="1395173" y="2927400"/>
            <a:ext cx="9250141" cy="344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709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C3F7A65-A050-21F2-321A-706A9BBC1EE5}"/>
              </a:ext>
            </a:extLst>
          </p:cNvPr>
          <p:cNvSpPr txBox="1"/>
          <p:nvPr/>
        </p:nvSpPr>
        <p:spPr>
          <a:xfrm>
            <a:off x="11506809" y="5303181"/>
            <a:ext cx="70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6EF69B-F563-C433-9D39-124BF16AEC10}"/>
              </a:ext>
            </a:extLst>
          </p:cNvPr>
          <p:cNvSpPr txBox="1"/>
          <p:nvPr/>
        </p:nvSpPr>
        <p:spPr>
          <a:xfrm>
            <a:off x="11685864" y="5915637"/>
            <a:ext cx="48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05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8477CD-74CF-3AC7-083A-CDCDF594F3D6}"/>
              </a:ext>
            </a:extLst>
          </p:cNvPr>
          <p:cNvSpPr/>
          <p:nvPr/>
        </p:nvSpPr>
        <p:spPr>
          <a:xfrm>
            <a:off x="11576985" y="780649"/>
            <a:ext cx="519764" cy="2285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練習看覓</a:t>
            </a:r>
            <a:endParaRPr lang="zh-TW" altLang="en-US" dirty="0"/>
          </a:p>
        </p:txBody>
      </p:sp>
      <p:pic>
        <p:nvPicPr>
          <p:cNvPr id="7" name="圖片 6">
            <a:hlinkClick r:id="rId4" action="ppaction://hlinksldjump"/>
            <a:extLst>
              <a:ext uri="{FF2B5EF4-FFF2-40B4-BE49-F238E27FC236}">
                <a16:creationId xmlns:a16="http://schemas.microsoft.com/office/drawing/2014/main" id="{838C383F-E527-D7A2-0777-F3EC01FAD1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58" y="84435"/>
            <a:ext cx="594124" cy="576650"/>
          </a:xfrm>
          <a:prstGeom prst="rect">
            <a:avLst/>
          </a:prstGeom>
        </p:spPr>
      </p:pic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D0692EF8-22A4-0D88-4489-A66FED94B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233783"/>
              </p:ext>
            </p:extLst>
          </p:nvPr>
        </p:nvGraphicFramePr>
        <p:xfrm>
          <a:off x="1180214" y="1149761"/>
          <a:ext cx="9181806" cy="518471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90903">
                  <a:extLst>
                    <a:ext uri="{9D8B030D-6E8A-4147-A177-3AD203B41FA5}">
                      <a16:colId xmlns:a16="http://schemas.microsoft.com/office/drawing/2014/main" val="3576831339"/>
                    </a:ext>
                  </a:extLst>
                </a:gridCol>
                <a:gridCol w="4590903">
                  <a:extLst>
                    <a:ext uri="{9D8B030D-6E8A-4147-A177-3AD203B41FA5}">
                      <a16:colId xmlns:a16="http://schemas.microsoft.com/office/drawing/2014/main" val="3475029615"/>
                    </a:ext>
                  </a:extLst>
                </a:gridCol>
              </a:tblGrid>
              <a:tr h="689672"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閩南語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華語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680426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例：走路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跑路、逃亡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332031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1.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齷齪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348942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2.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裘仔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984917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3.</a:t>
                      </a:r>
                      <a:endParaRPr lang="zh-TW" altLang="en-US" sz="4000" dirty="0">
                        <a:latin typeface="台灣楷體" panose="02010604000101010101" pitchFamily="2" charset="-12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毛線衣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343623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4.</a:t>
                      </a:r>
                      <a:endParaRPr lang="zh-TW" altLang="en-US" sz="4000" dirty="0">
                        <a:latin typeface="台灣楷體" panose="02010604000101010101" pitchFamily="2" charset="-12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賽跑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465186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7134E215-5A90-9231-8F1E-E7207CCB0730}"/>
              </a:ext>
            </a:extLst>
          </p:cNvPr>
          <p:cNvSpPr txBox="1"/>
          <p:nvPr/>
        </p:nvSpPr>
        <p:spPr>
          <a:xfrm>
            <a:off x="5771117" y="2888994"/>
            <a:ext cx="43723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4000" b="0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心情鬱悶、煩躁</a:t>
            </a:r>
            <a:endParaRPr lang="zh-TW" altLang="en-US" sz="4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C7E6CB3-8A1C-A6FE-04DC-39A36852F059}"/>
              </a:ext>
            </a:extLst>
          </p:cNvPr>
          <p:cNvSpPr txBox="1"/>
          <p:nvPr/>
        </p:nvSpPr>
        <p:spPr>
          <a:xfrm>
            <a:off x="5771117" y="3790335"/>
            <a:ext cx="43723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4000" b="0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夾襖、棉襖</a:t>
            </a:r>
            <a:endParaRPr lang="zh-TW" altLang="en-US" sz="4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6176084-494D-5710-C702-812317873C47}"/>
              </a:ext>
            </a:extLst>
          </p:cNvPr>
          <p:cNvSpPr txBox="1"/>
          <p:nvPr/>
        </p:nvSpPr>
        <p:spPr>
          <a:xfrm>
            <a:off x="1574801" y="4674604"/>
            <a:ext cx="43723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4000" b="0" i="0" u="none" strike="noStrike" baseline="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膨紗衫</a:t>
            </a:r>
            <a:endParaRPr lang="zh-TW" altLang="en-US" sz="4000" dirty="0">
              <a:solidFill>
                <a:srgbClr val="FF0000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081E822-0FEA-47C2-0FAD-9CC83C72AF4B}"/>
              </a:ext>
            </a:extLst>
          </p:cNvPr>
          <p:cNvSpPr txBox="1"/>
          <p:nvPr/>
        </p:nvSpPr>
        <p:spPr>
          <a:xfrm>
            <a:off x="1574801" y="5558873"/>
            <a:ext cx="43723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4000" b="0" i="0" u="none" strike="noStrike" baseline="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走標、走相逐</a:t>
            </a:r>
            <a:endParaRPr lang="zh-TW" altLang="en-US" sz="4000" dirty="0">
              <a:solidFill>
                <a:srgbClr val="FF0000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F9672AEE-9E62-1D25-DE41-0322FA4F1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8018" y="3360728"/>
            <a:ext cx="740914" cy="749664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DB58B9A-98A3-C1DD-D79A-B97D419DDF8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203"/>
          <a:stretch/>
        </p:blipFill>
        <p:spPr>
          <a:xfrm>
            <a:off x="0" y="241200"/>
            <a:ext cx="3577401" cy="9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6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1" grpId="0"/>
      <p:bldP spid="11" grpId="1"/>
      <p:bldP spid="12" grpId="0"/>
      <p:bldP spid="12" grpId="1"/>
      <p:bldP spid="14" grpId="0"/>
      <p:bldP spid="14" grpId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C3F7A65-A050-21F2-321A-706A9BBC1EE5}"/>
              </a:ext>
            </a:extLst>
          </p:cNvPr>
          <p:cNvSpPr txBox="1"/>
          <p:nvPr/>
        </p:nvSpPr>
        <p:spPr>
          <a:xfrm>
            <a:off x="11506809" y="5303181"/>
            <a:ext cx="70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6EF69B-F563-C433-9D39-124BF16AEC10}"/>
              </a:ext>
            </a:extLst>
          </p:cNvPr>
          <p:cNvSpPr txBox="1"/>
          <p:nvPr/>
        </p:nvSpPr>
        <p:spPr>
          <a:xfrm>
            <a:off x="11685864" y="5915637"/>
            <a:ext cx="48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06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8477CD-74CF-3AC7-083A-CDCDF594F3D6}"/>
              </a:ext>
            </a:extLst>
          </p:cNvPr>
          <p:cNvSpPr/>
          <p:nvPr/>
        </p:nvSpPr>
        <p:spPr>
          <a:xfrm>
            <a:off x="11576985" y="780649"/>
            <a:ext cx="519764" cy="2285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練習看覓</a:t>
            </a:r>
            <a:endParaRPr lang="zh-TW" altLang="en-US" dirty="0"/>
          </a:p>
        </p:txBody>
      </p:sp>
      <p:pic>
        <p:nvPicPr>
          <p:cNvPr id="7" name="圖片 6">
            <a:hlinkClick r:id="rId4" action="ppaction://hlinksldjump"/>
            <a:extLst>
              <a:ext uri="{FF2B5EF4-FFF2-40B4-BE49-F238E27FC236}">
                <a16:creationId xmlns:a16="http://schemas.microsoft.com/office/drawing/2014/main" id="{838C383F-E527-D7A2-0777-F3EC01FAD1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58" y="84435"/>
            <a:ext cx="594124" cy="5766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D79B40-1C06-F15D-DF2F-34FF8C8F2EBF}"/>
              </a:ext>
            </a:extLst>
          </p:cNvPr>
          <p:cNvSpPr txBox="1"/>
          <p:nvPr/>
        </p:nvSpPr>
        <p:spPr>
          <a:xfrm>
            <a:off x="95251" y="875899"/>
            <a:ext cx="10686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3600" dirty="0">
                <a:latin typeface="台灣楷體" panose="02010604000101010101" pitchFamily="2" charset="-120"/>
                <a:ea typeface="台灣楷體" panose="02010604000101010101" pitchFamily="2" charset="-120"/>
              </a:rPr>
              <a:t>   </a:t>
            </a:r>
            <a:r>
              <a:rPr lang="zh-TW" altLang="en-US" sz="32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（查的時陣語詞中央的「</a:t>
            </a:r>
            <a:r>
              <a:rPr lang="en-US" altLang="zh-TW" sz="32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-</a:t>
            </a:r>
            <a:r>
              <a:rPr lang="zh-TW" altLang="en-US" sz="3200" b="0" i="0" u="none" strike="noStrike" baseline="0" dirty="0">
                <a:latin typeface="台灣楷體" panose="02010604000101010101" pitchFamily="2" charset="-120"/>
                <a:ea typeface="台灣楷體" panose="02010604000101010101" pitchFamily="2" charset="-120"/>
              </a:rPr>
              <a:t>」會當用空格仔代替。）</a:t>
            </a:r>
            <a:endParaRPr lang="zh-TW" altLang="en-US" sz="3600" dirty="0"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D0692EF8-22A4-0D88-4489-A66FED94B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57672"/>
              </p:ext>
            </p:extLst>
          </p:nvPr>
        </p:nvGraphicFramePr>
        <p:xfrm>
          <a:off x="1052618" y="1517255"/>
          <a:ext cx="9431079" cy="518471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60602">
                  <a:extLst>
                    <a:ext uri="{9D8B030D-6E8A-4147-A177-3AD203B41FA5}">
                      <a16:colId xmlns:a16="http://schemas.microsoft.com/office/drawing/2014/main" val="3576831339"/>
                    </a:ext>
                  </a:extLst>
                </a:gridCol>
                <a:gridCol w="3060602">
                  <a:extLst>
                    <a:ext uri="{9D8B030D-6E8A-4147-A177-3AD203B41FA5}">
                      <a16:colId xmlns:a16="http://schemas.microsoft.com/office/drawing/2014/main" val="3475029615"/>
                    </a:ext>
                  </a:extLst>
                </a:gridCol>
                <a:gridCol w="3309875">
                  <a:extLst>
                    <a:ext uri="{9D8B030D-6E8A-4147-A177-3AD203B41FA5}">
                      <a16:colId xmlns:a16="http://schemas.microsoft.com/office/drawing/2014/main" val="1918761131"/>
                    </a:ext>
                  </a:extLst>
                </a:gridCol>
              </a:tblGrid>
              <a:tr h="689672"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臺羅拼音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閩南語漢字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華語解說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680426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 err="1">
                          <a:latin typeface="Taiwanese Serif" panose="02000503000000020003" pitchFamily="2" charset="0"/>
                          <a:ea typeface="台灣楷體" panose="02010604000101010101" pitchFamily="2" charset="-120"/>
                        </a:rPr>
                        <a:t>tshiò-khue</a:t>
                      </a:r>
                      <a:endParaRPr lang="zh-TW" altLang="en-US" sz="4000" dirty="0">
                        <a:latin typeface="Taiwanese Serif" panose="02000503000000020003" pitchFamily="2" charset="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笑詼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笑話、詼諧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332031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 err="1">
                          <a:latin typeface="Taiwanese Serif" panose="02000503000000020003" pitchFamily="2" charset="0"/>
                          <a:ea typeface="台灣楷體" panose="02010604000101010101" pitchFamily="2" charset="-120"/>
                        </a:rPr>
                        <a:t>sù-phuè</a:t>
                      </a:r>
                      <a:endParaRPr lang="zh-TW" altLang="en-US" sz="4000" dirty="0">
                        <a:latin typeface="Taiwanese Serif" panose="02000503000000020003" pitchFamily="2" charset="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台灣楷體" panose="02010604000101010101" pitchFamily="2" charset="-12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348942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 err="1">
                          <a:latin typeface="Taiwanese Serif" panose="02000503000000020003" pitchFamily="2" charset="0"/>
                          <a:ea typeface="台灣楷體" panose="02010604000101010101" pitchFamily="2" charset="-120"/>
                        </a:rPr>
                        <a:t>ài-suí</a:t>
                      </a:r>
                      <a:endParaRPr lang="zh-TW" altLang="en-US" sz="4000" dirty="0">
                        <a:latin typeface="Taiwanese Serif" panose="02000503000000020003" pitchFamily="2" charset="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台灣楷體" panose="02010604000101010101" pitchFamily="2" charset="-12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984917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 err="1">
                          <a:latin typeface="Taiwanese Serif" panose="02000503000000020003" pitchFamily="2" charset="0"/>
                          <a:ea typeface="台灣楷體" panose="02010604000101010101" pitchFamily="2" charset="-120"/>
                        </a:rPr>
                        <a:t>bãk-tsiu</a:t>
                      </a:r>
                      <a:endParaRPr lang="zh-TW" altLang="en-US" sz="4000" dirty="0">
                        <a:latin typeface="Taiwanese Serif" panose="02000503000000020003" pitchFamily="2" charset="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台灣楷體" panose="02010604000101010101" pitchFamily="2" charset="-12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343623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 err="1">
                          <a:latin typeface="Taiwanese Serif" panose="02000503000000020003" pitchFamily="2" charset="0"/>
                          <a:ea typeface="台灣楷體" panose="02010604000101010101" pitchFamily="2" charset="-120"/>
                        </a:rPr>
                        <a:t>tshuì</a:t>
                      </a:r>
                      <a:r>
                        <a:rPr lang="en-US" altLang="zh-TW" sz="4000" dirty="0">
                          <a:latin typeface="Taiwanese Serif" panose="02000503000000020003" pitchFamily="2" charset="0"/>
                          <a:ea typeface="台灣楷體" panose="02010604000101010101" pitchFamily="2" charset="-120"/>
                        </a:rPr>
                        <a:t>-am</a:t>
                      </a:r>
                      <a:endParaRPr lang="zh-TW" altLang="en-US" sz="4000" dirty="0">
                        <a:latin typeface="Taiwanese Serif" panose="02000503000000020003" pitchFamily="2" charset="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台灣楷體" panose="02010604000101010101" pitchFamily="2" charset="-12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465186"/>
                  </a:ext>
                </a:extLst>
              </a:tr>
            </a:tbl>
          </a:graphicData>
        </a:graphic>
      </p:graphicFrame>
      <p:pic>
        <p:nvPicPr>
          <p:cNvPr id="16" name="圖片 15">
            <a:extLst>
              <a:ext uri="{FF2B5EF4-FFF2-40B4-BE49-F238E27FC236}">
                <a16:creationId xmlns:a16="http://schemas.microsoft.com/office/drawing/2014/main" id="{F9672AEE-9E62-1D25-DE41-0322FA4F1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8018" y="3360728"/>
            <a:ext cx="740914" cy="749664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7D275CF0-563C-8811-E709-7E6DA70587B4}"/>
              </a:ext>
            </a:extLst>
          </p:cNvPr>
          <p:cNvSpPr txBox="1"/>
          <p:nvPr/>
        </p:nvSpPr>
        <p:spPr>
          <a:xfrm>
            <a:off x="4094714" y="3240528"/>
            <a:ext cx="306099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lang="zh-TW" altLang="en-US" sz="400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四配</a:t>
            </a:r>
            <a:endParaRPr lang="en-US" altLang="zh-TW" sz="4000" dirty="0">
              <a:solidFill>
                <a:srgbClr val="FF0000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  <a:p>
            <a:pPr>
              <a:spcAft>
                <a:spcPts val="2400"/>
              </a:spcAft>
            </a:pPr>
            <a:r>
              <a:rPr lang="zh-TW" altLang="en-US" sz="400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愛媠</a:t>
            </a:r>
            <a:endParaRPr lang="en-US" altLang="zh-TW" sz="4000" dirty="0">
              <a:solidFill>
                <a:srgbClr val="FF0000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  <a:p>
            <a:pPr>
              <a:spcAft>
                <a:spcPts val="2400"/>
              </a:spcAft>
            </a:pPr>
            <a:r>
              <a:rPr lang="zh-TW" altLang="en-US" sz="400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目睭</a:t>
            </a:r>
            <a:endParaRPr lang="en-US" altLang="zh-TW" sz="4000" dirty="0">
              <a:solidFill>
                <a:srgbClr val="FF0000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  <a:p>
            <a:pPr>
              <a:spcAft>
                <a:spcPts val="2400"/>
              </a:spcAft>
            </a:pPr>
            <a:r>
              <a:rPr lang="zh-TW" altLang="en-US" sz="400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喙罨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6702DDE-D279-73BB-4ECE-DBE614A49D69}"/>
              </a:ext>
            </a:extLst>
          </p:cNvPr>
          <p:cNvSpPr txBox="1"/>
          <p:nvPr/>
        </p:nvSpPr>
        <p:spPr>
          <a:xfrm>
            <a:off x="7173429" y="3240528"/>
            <a:ext cx="3597345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lang="zh-TW" altLang="en-US" sz="4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匹配、登對</a:t>
            </a:r>
            <a:endParaRPr lang="en-US" altLang="zh-TW" sz="4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2400"/>
              </a:spcAft>
            </a:pPr>
            <a:r>
              <a:rPr lang="zh-TW" altLang="en-US" sz="4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愛美、愛漂亮</a:t>
            </a:r>
            <a:endParaRPr lang="en-US" altLang="zh-TW" sz="4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2400"/>
              </a:spcAft>
            </a:pPr>
            <a:r>
              <a:rPr lang="zh-TW" altLang="en-US" sz="4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眼睛</a:t>
            </a:r>
            <a:endParaRPr lang="en-US" altLang="zh-TW" sz="4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2000"/>
              </a:spcAft>
            </a:pPr>
            <a:r>
              <a:rPr lang="zh-TW" altLang="en-US" sz="4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口罩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45699F4-CFE2-C232-DDBB-02E3DA71268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783"/>
          <a:stretch/>
        </p:blipFill>
        <p:spPr>
          <a:xfrm>
            <a:off x="0" y="241200"/>
            <a:ext cx="4098274" cy="9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28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5" grpId="0"/>
      <p:bldP spid="15" grpId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C3F7A65-A050-21F2-321A-706A9BBC1EE5}"/>
              </a:ext>
            </a:extLst>
          </p:cNvPr>
          <p:cNvSpPr txBox="1"/>
          <p:nvPr/>
        </p:nvSpPr>
        <p:spPr>
          <a:xfrm>
            <a:off x="11506809" y="5303181"/>
            <a:ext cx="70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23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6EF69B-F563-C433-9D39-124BF16AEC10}"/>
              </a:ext>
            </a:extLst>
          </p:cNvPr>
          <p:cNvSpPr txBox="1"/>
          <p:nvPr/>
        </p:nvSpPr>
        <p:spPr>
          <a:xfrm>
            <a:off x="11685864" y="5915637"/>
            <a:ext cx="48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07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8477CD-74CF-3AC7-083A-CDCDF594F3D6}"/>
              </a:ext>
            </a:extLst>
          </p:cNvPr>
          <p:cNvSpPr/>
          <p:nvPr/>
        </p:nvSpPr>
        <p:spPr>
          <a:xfrm>
            <a:off x="11576985" y="780649"/>
            <a:ext cx="519764" cy="2285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練習看覓</a:t>
            </a:r>
            <a:endParaRPr lang="zh-TW" altLang="en-US" dirty="0"/>
          </a:p>
        </p:txBody>
      </p:sp>
      <p:pic>
        <p:nvPicPr>
          <p:cNvPr id="7" name="圖片 6">
            <a:hlinkClick r:id="rId3" action="ppaction://hlinksldjump"/>
            <a:extLst>
              <a:ext uri="{FF2B5EF4-FFF2-40B4-BE49-F238E27FC236}">
                <a16:creationId xmlns:a16="http://schemas.microsoft.com/office/drawing/2014/main" id="{838C383F-E527-D7A2-0777-F3EC01FAD1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58" y="84435"/>
            <a:ext cx="594124" cy="576650"/>
          </a:xfrm>
          <a:prstGeom prst="rect">
            <a:avLst/>
          </a:prstGeom>
        </p:spPr>
      </p:pic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D0692EF8-22A4-0D88-4489-A66FED94B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149869"/>
              </p:ext>
            </p:extLst>
          </p:nvPr>
        </p:nvGraphicFramePr>
        <p:xfrm>
          <a:off x="361507" y="1149761"/>
          <a:ext cx="10760150" cy="46973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80075">
                  <a:extLst>
                    <a:ext uri="{9D8B030D-6E8A-4147-A177-3AD203B41FA5}">
                      <a16:colId xmlns:a16="http://schemas.microsoft.com/office/drawing/2014/main" val="3576831339"/>
                    </a:ext>
                  </a:extLst>
                </a:gridCol>
                <a:gridCol w="5380075">
                  <a:extLst>
                    <a:ext uri="{9D8B030D-6E8A-4147-A177-3AD203B41FA5}">
                      <a16:colId xmlns:a16="http://schemas.microsoft.com/office/drawing/2014/main" val="3475029615"/>
                    </a:ext>
                  </a:extLst>
                </a:gridCol>
              </a:tblGrid>
              <a:tr h="689672"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分 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附 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680426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寫出三種蟲豸的閩南語漢字：例：𧌄蜅蠐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寫出三種人體骨骼的閩南語漢字：例：牙槽骨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332031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1.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1.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348942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2.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2.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984917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3.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3.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343623"/>
                  </a:ext>
                </a:extLst>
              </a:tr>
            </a:tbl>
          </a:graphicData>
        </a:graphic>
      </p:graphicFrame>
      <p:pic>
        <p:nvPicPr>
          <p:cNvPr id="16" name="圖片 15">
            <a:extLst>
              <a:ext uri="{FF2B5EF4-FFF2-40B4-BE49-F238E27FC236}">
                <a16:creationId xmlns:a16="http://schemas.microsoft.com/office/drawing/2014/main" id="{F9672AEE-9E62-1D25-DE41-0322FA4F1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8018" y="3084503"/>
            <a:ext cx="740914" cy="749664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B7BCB607-1135-88D5-F8E5-96FA33F2E0BC}"/>
              </a:ext>
            </a:extLst>
          </p:cNvPr>
          <p:cNvSpPr txBox="1"/>
          <p:nvPr/>
        </p:nvSpPr>
        <p:spPr>
          <a:xfrm>
            <a:off x="1245189" y="3243765"/>
            <a:ext cx="883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蠓仔                 胸坎骨</a:t>
            </a:r>
            <a:endParaRPr lang="zh-TW" altLang="en-US" sz="4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9671A92-492A-BAF9-FF79-9D6B0BA3D535}"/>
              </a:ext>
            </a:extLst>
          </p:cNvPr>
          <p:cNvSpPr txBox="1"/>
          <p:nvPr/>
        </p:nvSpPr>
        <p:spPr>
          <a:xfrm>
            <a:off x="1245189" y="4159894"/>
            <a:ext cx="883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胡蠅                 箅仔骨</a:t>
            </a:r>
            <a:r>
              <a:rPr lang="zh-TW" altLang="en-US" sz="4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97134B1-A246-7257-5CB7-91CAE2E33F1F}"/>
              </a:ext>
            </a:extLst>
          </p:cNvPr>
          <p:cNvSpPr txBox="1"/>
          <p:nvPr/>
        </p:nvSpPr>
        <p:spPr>
          <a:xfrm>
            <a:off x="1245189" y="5056960"/>
            <a:ext cx="883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虼蚻                 飯匙骨</a:t>
            </a:r>
            <a:endParaRPr lang="zh-TW" altLang="en-US" sz="4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83C8953-3D01-109C-4824-517AA752E60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466"/>
          <a:stretch/>
        </p:blipFill>
        <p:spPr>
          <a:xfrm>
            <a:off x="-1" y="241200"/>
            <a:ext cx="4672869" cy="963251"/>
          </a:xfrm>
          <a:prstGeom prst="rect">
            <a:avLst/>
          </a:prstGeom>
        </p:spPr>
      </p:pic>
      <p:pic>
        <p:nvPicPr>
          <p:cNvPr id="11" name="圖片 10">
            <a:hlinkClick r:id="rId7" action="ppaction://hlinksldjump"/>
            <a:extLst>
              <a:ext uri="{FF2B5EF4-FFF2-40B4-BE49-F238E27FC236}">
                <a16:creationId xmlns:a16="http://schemas.microsoft.com/office/drawing/2014/main" id="{A4958F0C-49B3-5E30-BAC8-8E5B0319C5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8018" y="3819010"/>
            <a:ext cx="740913" cy="74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3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5" grpId="0"/>
      <p:bldP spid="15" grpId="1"/>
      <p:bldP spid="17" grpId="0"/>
      <p:bldP spid="1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C3F7A65-A050-21F2-321A-706A9BBC1EE5}"/>
              </a:ext>
            </a:extLst>
          </p:cNvPr>
          <p:cNvSpPr txBox="1"/>
          <p:nvPr/>
        </p:nvSpPr>
        <p:spPr>
          <a:xfrm>
            <a:off x="11506809" y="5303181"/>
            <a:ext cx="70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23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6EF69B-F563-C433-9D39-124BF16AEC10}"/>
              </a:ext>
            </a:extLst>
          </p:cNvPr>
          <p:cNvSpPr txBox="1"/>
          <p:nvPr/>
        </p:nvSpPr>
        <p:spPr>
          <a:xfrm>
            <a:off x="11685864" y="5915637"/>
            <a:ext cx="48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08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8477CD-74CF-3AC7-083A-CDCDF594F3D6}"/>
              </a:ext>
            </a:extLst>
          </p:cNvPr>
          <p:cNvSpPr/>
          <p:nvPr/>
        </p:nvSpPr>
        <p:spPr>
          <a:xfrm>
            <a:off x="11576985" y="780649"/>
            <a:ext cx="519764" cy="2285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練習看覓</a:t>
            </a:r>
            <a:endParaRPr lang="zh-TW" altLang="en-US" dirty="0"/>
          </a:p>
        </p:txBody>
      </p:sp>
      <p:pic>
        <p:nvPicPr>
          <p:cNvPr id="7" name="圖片 6">
            <a:hlinkClick r:id="rId3" action="ppaction://hlinksldjump"/>
            <a:extLst>
              <a:ext uri="{FF2B5EF4-FFF2-40B4-BE49-F238E27FC236}">
                <a16:creationId xmlns:a16="http://schemas.microsoft.com/office/drawing/2014/main" id="{838C383F-E527-D7A2-0777-F3EC01FAD1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58" y="84435"/>
            <a:ext cx="594124" cy="576650"/>
          </a:xfrm>
          <a:prstGeom prst="rect">
            <a:avLst/>
          </a:prstGeom>
        </p:spPr>
      </p:pic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D0692EF8-22A4-0D88-4489-A66FED94B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940888"/>
              </p:ext>
            </p:extLst>
          </p:nvPr>
        </p:nvGraphicFramePr>
        <p:xfrm>
          <a:off x="893135" y="1672277"/>
          <a:ext cx="9696894" cy="260991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02688">
                  <a:extLst>
                    <a:ext uri="{9D8B030D-6E8A-4147-A177-3AD203B41FA5}">
                      <a16:colId xmlns:a16="http://schemas.microsoft.com/office/drawing/2014/main" val="3576831339"/>
                    </a:ext>
                  </a:extLst>
                </a:gridCol>
                <a:gridCol w="2881424">
                  <a:extLst>
                    <a:ext uri="{9D8B030D-6E8A-4147-A177-3AD203B41FA5}">
                      <a16:colId xmlns:a16="http://schemas.microsoft.com/office/drawing/2014/main" val="3475029615"/>
                    </a:ext>
                  </a:extLst>
                </a:gridCol>
                <a:gridCol w="3912782">
                  <a:extLst>
                    <a:ext uri="{9D8B030D-6E8A-4147-A177-3AD203B41FA5}">
                      <a16:colId xmlns:a16="http://schemas.microsoft.com/office/drawing/2014/main" val="2844048965"/>
                    </a:ext>
                  </a:extLst>
                </a:gridCol>
              </a:tblGrid>
              <a:tr h="689672"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我的名姓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臺羅拼音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講看覓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680426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例：林志明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4000" dirty="0" err="1">
                          <a:latin typeface="Taiwanese Serif" panose="02000503000000020003" pitchFamily="2" charset="0"/>
                          <a:ea typeface="微軟正黑體" panose="020B0604030504040204" pitchFamily="34" charset="-120"/>
                        </a:rPr>
                        <a:t>Lîm</a:t>
                      </a:r>
                      <a:r>
                        <a:rPr lang="en-US" altLang="zh-TW" sz="4000" dirty="0">
                          <a:latin typeface="Taiwanese Serif" panose="02000503000000020003" pitchFamily="2" charset="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4000" dirty="0" err="1">
                          <a:latin typeface="Taiwanese Serif" panose="02000503000000020003" pitchFamily="2" charset="0"/>
                          <a:ea typeface="微軟正黑體" panose="020B0604030504040204" pitchFamily="34" charset="-120"/>
                        </a:rPr>
                        <a:t>Tsì-bîng</a:t>
                      </a:r>
                      <a:endParaRPr lang="zh-TW" altLang="en-US" sz="4000" dirty="0">
                        <a:latin typeface="Taiwanese Serif" panose="02000503000000020003" pitchFamily="2" charset="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請用閩南語共老師、同學紹介你的名。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332031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endParaRPr lang="zh-TW" altLang="en-US" sz="4000" dirty="0">
                        <a:latin typeface="台灣楷體" panose="02010604000101010101" pitchFamily="2" charset="-12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4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 sz="4000" dirty="0">
                        <a:latin typeface="台灣楷體" panose="02010604000101010101" pitchFamily="2" charset="-120"/>
                        <a:ea typeface="台灣楷體" panose="02010604000101010101" pitchFamily="2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348942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D18399F2-3129-C6FD-5481-A7BD4C30184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708"/>
          <a:stretch/>
        </p:blipFill>
        <p:spPr>
          <a:xfrm>
            <a:off x="0" y="241200"/>
            <a:ext cx="3558351" cy="9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8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hlinkClick r:id="rId4" action="ppaction://hlinksldjump"/>
            <a:extLst>
              <a:ext uri="{FF2B5EF4-FFF2-40B4-BE49-F238E27FC236}">
                <a16:creationId xmlns:a16="http://schemas.microsoft.com/office/drawing/2014/main" id="{A31EC762-76CD-2814-AD08-3073BB6C39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58" y="84435"/>
            <a:ext cx="594124" cy="5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3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48477CD-74CF-3AC7-083A-CDCDF594F3D6}"/>
              </a:ext>
            </a:extLst>
          </p:cNvPr>
          <p:cNvSpPr/>
          <p:nvPr/>
        </p:nvSpPr>
        <p:spPr>
          <a:xfrm>
            <a:off x="11576985" y="780649"/>
            <a:ext cx="519764" cy="2285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練習看覓</a:t>
            </a:r>
            <a:endParaRPr lang="zh-TW" altLang="en-US" dirty="0"/>
          </a:p>
        </p:txBody>
      </p:sp>
      <p:pic>
        <p:nvPicPr>
          <p:cNvPr id="7" name="圖片 6">
            <a:hlinkClick r:id="rId3" action="ppaction://hlinksldjump"/>
            <a:extLst>
              <a:ext uri="{FF2B5EF4-FFF2-40B4-BE49-F238E27FC236}">
                <a16:creationId xmlns:a16="http://schemas.microsoft.com/office/drawing/2014/main" id="{838C383F-E527-D7A2-0777-F3EC01FAD1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42458" y="99021"/>
            <a:ext cx="594124" cy="547477"/>
          </a:xfrm>
          <a:prstGeom prst="rect">
            <a:avLst/>
          </a:prstGeom>
        </p:spPr>
      </p:pic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D0692EF8-22A4-0D88-4489-A66FED94B019}"/>
              </a:ext>
            </a:extLst>
          </p:cNvPr>
          <p:cNvGraphicFramePr>
            <a:graphicFrameLocks noGrp="1"/>
          </p:cNvGraphicFramePr>
          <p:nvPr/>
        </p:nvGraphicFramePr>
        <p:xfrm>
          <a:off x="361507" y="1149761"/>
          <a:ext cx="10760150" cy="46973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80075">
                  <a:extLst>
                    <a:ext uri="{9D8B030D-6E8A-4147-A177-3AD203B41FA5}">
                      <a16:colId xmlns:a16="http://schemas.microsoft.com/office/drawing/2014/main" val="3576831339"/>
                    </a:ext>
                  </a:extLst>
                </a:gridCol>
                <a:gridCol w="5380075">
                  <a:extLst>
                    <a:ext uri="{9D8B030D-6E8A-4147-A177-3AD203B41FA5}">
                      <a16:colId xmlns:a16="http://schemas.microsoft.com/office/drawing/2014/main" val="3475029615"/>
                    </a:ext>
                  </a:extLst>
                </a:gridCol>
              </a:tblGrid>
              <a:tr h="689672"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分 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00"/>
                        </a:lnSpc>
                      </a:pP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附 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680426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寫出三種蟲豸的閩南語漢字：例：𧌄蜅蠐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寫出三種人體骨骼的閩南語漢字：例：牙槽骨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332031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1.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1.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348942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2.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2.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984917"/>
                  </a:ext>
                </a:extLst>
              </a:tr>
              <a:tr h="899009"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3.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3.</a:t>
                      </a:r>
                      <a:r>
                        <a:rPr lang="zh-TW" altLang="en-US" sz="4000" dirty="0">
                          <a:latin typeface="台灣楷體" panose="02010604000101010101" pitchFamily="2" charset="-120"/>
                          <a:ea typeface="台灣楷體" panose="02010604000101010101" pitchFamily="2" charset="-120"/>
                        </a:rPr>
                        <a:t>（　　　　　　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343623"/>
                  </a:ext>
                </a:extLst>
              </a:tr>
            </a:tbl>
          </a:graphicData>
        </a:graphic>
      </p:graphicFrame>
      <p:pic>
        <p:nvPicPr>
          <p:cNvPr id="16" name="圖片 15">
            <a:extLst>
              <a:ext uri="{FF2B5EF4-FFF2-40B4-BE49-F238E27FC236}">
                <a16:creationId xmlns:a16="http://schemas.microsoft.com/office/drawing/2014/main" id="{F9672AEE-9E62-1D25-DE41-0322FA4F1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8018" y="3360728"/>
            <a:ext cx="740914" cy="749664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B7BCB607-1135-88D5-F8E5-96FA33F2E0BC}"/>
              </a:ext>
            </a:extLst>
          </p:cNvPr>
          <p:cNvSpPr txBox="1"/>
          <p:nvPr/>
        </p:nvSpPr>
        <p:spPr>
          <a:xfrm>
            <a:off x="1245189" y="3243765"/>
            <a:ext cx="883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田嬰                 腰脊骨</a:t>
            </a:r>
            <a:endParaRPr lang="zh-TW" altLang="en-US" sz="4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9671A92-492A-BAF9-FF79-9D6B0BA3D535}"/>
              </a:ext>
            </a:extLst>
          </p:cNvPr>
          <p:cNvSpPr txBox="1"/>
          <p:nvPr/>
        </p:nvSpPr>
        <p:spPr>
          <a:xfrm>
            <a:off x="1245189" y="4159894"/>
            <a:ext cx="883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火金蛄               跤胴骨</a:t>
            </a:r>
            <a:r>
              <a:rPr lang="zh-TW" altLang="en-US" sz="4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97134B1-A246-7257-5CB7-91CAE2E33F1F}"/>
              </a:ext>
            </a:extLst>
          </p:cNvPr>
          <p:cNvSpPr txBox="1"/>
          <p:nvPr/>
        </p:nvSpPr>
        <p:spPr>
          <a:xfrm>
            <a:off x="1245189" y="5056960"/>
            <a:ext cx="883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rgbClr val="FF0000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刺毛蟲               跤肚骨</a:t>
            </a:r>
            <a:endParaRPr lang="zh-TW" altLang="en-US" sz="4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42E3D3B-1732-4D35-3E0C-2141F80CEA5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466"/>
          <a:stretch/>
        </p:blipFill>
        <p:spPr>
          <a:xfrm>
            <a:off x="-1" y="241200"/>
            <a:ext cx="4672869" cy="9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4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5" grpId="0"/>
      <p:bldP spid="15" grpId="1"/>
      <p:bldP spid="17" grpId="0"/>
      <p:bldP spid="17" grpId="1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605</Words>
  <Application>Microsoft Office PowerPoint</Application>
  <PresentationFormat>寬螢幕</PresentationFormat>
  <Paragraphs>108</Paragraphs>
  <Slides>12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台灣楷體</vt:lpstr>
      <vt:lpstr>Arial</vt:lpstr>
      <vt:lpstr>微軟正黑體</vt:lpstr>
      <vt:lpstr>Calibri Light</vt:lpstr>
      <vt:lpstr>Calibri</vt:lpstr>
      <vt:lpstr>Times New Roman</vt:lpstr>
      <vt:lpstr>標楷體</vt:lpstr>
      <vt:lpstr>Taiwanese Serif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365 KA</dc:creator>
  <cp:lastModifiedBy>365 KA</cp:lastModifiedBy>
  <cp:revision>15</cp:revision>
  <dcterms:created xsi:type="dcterms:W3CDTF">2022-08-08T00:23:57Z</dcterms:created>
  <dcterms:modified xsi:type="dcterms:W3CDTF">2022-09-01T09:15:56Z</dcterms:modified>
</cp:coreProperties>
</file>