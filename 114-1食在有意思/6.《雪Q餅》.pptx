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+nolipTNb9oqX4sNOynGwGgdx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33863E-6620-483D-9E47-D3E7B9672B18}">
  <a:tblStyle styleId="{3F33863E-6620-483D-9E47-D3E7B9672B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e45a526a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e45a526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e45a526a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e45a526a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906371ab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9906371a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e45a526a3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e45a526a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e45a526a3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e45a526a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e45a526a3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e45a526a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e45a526a3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e45a526a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e45a526a3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e45a526a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e45a526a3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ae45a526a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e45a526a3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ae45a526a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e45a526a3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e45a526a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e45a526a3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ae45a526a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" name="Google Shape;1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" name="Google Shape;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20" name="Google Shape;20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4" name="Google Shape;2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5" name="Google Shape;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2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2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2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4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4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2" name="Google Shape;4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3" name="Google Shape;4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5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5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5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2" name="Google Shape;5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3" name="Google Shape;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3" name="Google Shape;6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64" name="Google Shape;6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7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27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1" name="Google Shape;71;p27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76" name="Google Shape;7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77" name="Google Shape;7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5" name="Google Shape;8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6" name="Google Shape;8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9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2" name="Google Shape;92;p2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6" name="Google Shape;9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7" name="Google Shape;9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0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0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000"/>
              </a:srgbClr>
            </a:outerShdw>
          </a:effectLst>
        </p:spPr>
      </p:sp>
      <p:sp>
        <p:nvSpPr>
          <p:cNvPr id="102" name="Google Shape;102;p30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3" name="Google Shape;103;p3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全景圖片 (含標題)">
  <p:cSld name="全景圖片 (含標題)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7" name="Google Shape;107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8" name="Google Shape;10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1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1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1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000"/>
              </a:srgbClr>
            </a:outerShdw>
          </a:effectLst>
        </p:spPr>
      </p:sp>
      <p:sp>
        <p:nvSpPr>
          <p:cNvPr id="113" name="Google Shape;113;p31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4" name="Google Shape;114;p3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1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說明文字">
  <p:cSld name="標題與說明文字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8" name="Google Shape;11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19" name="Google Shape;1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2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2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4" name="Google Shape;124;p3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2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引述 (含標題)">
  <p:cSld name="引述 (含標題)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8" name="Google Shape;128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9" name="Google Shape;12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3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4" name="Google Shape;134;p33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5" name="Google Shape;135;p3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3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8" name="Google Shape;138;p33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zh-TW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3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zh-TW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名片">
  <p:cSld name="名片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1" name="Google Shape;14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2" name="Google Shape;1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4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4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7" name="Google Shape;147;p3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4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欄">
  <p:cSld name="3 欄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51" name="Google Shape;1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52" name="Google Shape;1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5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7" name="Google Shape;157;p35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8" name="Google Shape;158;p35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9" name="Google Shape;159;p35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35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1" name="Google Shape;161;p35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2" name="Google Shape;162;p3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圖片欄">
  <p:cSld name="3 圖片欄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6" name="Google Shape;16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7" name="Google Shape;16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6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6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36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1960"/>
              </a:srgbClr>
            </a:outerShdw>
          </a:effectLst>
        </p:spPr>
      </p:sp>
      <p:sp>
        <p:nvSpPr>
          <p:cNvPr id="173" name="Google Shape;173;p36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4" name="Google Shape;174;p36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36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1960"/>
              </a:srgbClr>
            </a:outerShdw>
          </a:effectLst>
        </p:spPr>
      </p:sp>
      <p:sp>
        <p:nvSpPr>
          <p:cNvPr id="176" name="Google Shape;176;p36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7" name="Google Shape;177;p36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8" name="Google Shape;178;p36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1960"/>
              </a:srgbClr>
            </a:outerShdw>
          </a:effectLst>
        </p:spPr>
      </p:sp>
      <p:sp>
        <p:nvSpPr>
          <p:cNvPr id="179" name="Google Shape;179;p36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0" name="Google Shape;180;p3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4" name="Google Shape;18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5" name="Google Shape;18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7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3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6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6" name="Google Shape;6;p20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0" y="32127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0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lXtbQeGPnZs" TargetMode="External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AJpkLTVt43c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foodnext.net/tv/tvscience/tvmachining/paper/5975708331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ytower.com.tw/material/material.asp?type=%BE%AE%BD%A6&amp;srsltid=AfmBOorugsW6PdTPwLtYDAAsagA6HnOynkt34aECiYE5fLECW06Y95Bj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youtube.com/watch?v=eXINCM031Wc" TargetMode="External"/><Relationship Id="rId4" Type="http://schemas.openxmlformats.org/officeDocument/2006/relationships/hyperlink" Target="https://www.youtube.com/watch?v=eXINCM031Wc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google.com/search?q=Chopped+Almonds&amp;sca_esv=118142daaef610f7&amp;sxsrf=AE3TifOvEnsqQQBbojxcvUnvjFYcHkC75w%3A1765114817045&amp;ei=wYM1aanBAvuXvr0P2oDj4Qo&amp;ved=2ahUKEwj7qbub0KuRAxWwaPUHHZBZDhoQgK4QegQIARAE&amp;uact=5&amp;oq=%E6%9D%8F%E4%BB%81%E7%B2%92+%E8%8B%B1%E6%96%87&amp;gs_lp=Egxnd3Mtd2l6LXNlcnAiEOadj-S7geeykiDoi7HmlocyBBAAGB4yCBAAGIAEGKIEMggQABiABBiiBEjxZFCbEVi8XHACeAGQAQCYAYQEoAGVD6oBCzkuMS4xLjEuMC4xuAEDyAEA-AEBmAIOoALWC8ICChAAGLADGNYEGEfCAgYQABgHGB7CAgcQABiABBgNwgIKEAAYgAQYQxiKBcICCBAAGKIEGIkFmAMAiAYBkAYKkgcKMTAuMi4xLjAuMaAHvBiyBwk4LjIuMS4wLjG4B9ALwgcFMC43LjfIByuACAA&amp;sclient=gws-wiz-serp&amp;mstk=AUtExfDx9synVeiAt08pd18Sm8PAWYjOrX_pGb-A6kVpIQnSAHbXdprBgqZmiAzhkeSTCPyF2Xh3oRBHev1oqdwdSJA8jgYiuQ9d8BEo0ecBUD4HKUhEvc7m9igMdGhgiyBJ9X1BLj-sI1vQWFRuxIF7PlFj3qwWK7P-vDs7R4LOny11a64&amp;csui=3" TargetMode="External"/><Relationship Id="rId4" Type="http://schemas.openxmlformats.org/officeDocument/2006/relationships/hyperlink" Target="https://www.google.com/search?q=Whole+Grain+Crackers&amp;sca_esv=118142daaef610f7&amp;sxsrf=AE3TifMgbrp0fjRR5xwqEYaLcjnJKK5mIw%3A1765115651862&amp;ei=A4c1aaykNMr21e8P87fhsAY&amp;ved=2ahUKEwiJouuX0auRAxUdha8BHf7eIlEQgK4QegQIARAF&amp;uact=5&amp;oq=%E5%85%A8%E9%BA%A5%E9%A4%85%E4%B9%BE+%E8%8B%B1%E6%96%87&amp;gs_lp=Egxnd3Mtd2l6LXNlcnAiE-WFqOm6pemkheS5viDoi7HmlocyBRAAGIAEMggQABiABBiiBDIFEAAY7wUyBRAAGO8FSNQMUABYAHAAeACQAQCYATugATuqAQExuAEDyAEA-AEC-AEBmAIBoAJAmAMAkgcBMaAHxgGyBwExuAdAwgcDMi0xyAcDgAgA&amp;sclient=gws-wiz-serp&amp;mstk=AUtExfDSEGtpt0FgObmqaKXovIFXmJYD7KK1-TgF8q-L4rPYOOGZcIeXErJ1vKv3voJA2HdED9p2Yej7KHlNjpcgEuGI0jbUhyXaOaw6PvpOXCq0H-s-bV0Tm-5qPXVrznIAX0mhoCibRjN3qmN2NOLu7MmbXMdbYzabU0qKhGxW2IqlJrks9iwn4aFqQd37Ulckpfw7F3DFZUh2KYoPhbnMo0KTXqG_lDJqMgyAY4AjN9iCptOA4SWwKAIx-2IyqOm7ADF7an7PfTQUubEbbpjv1bRQ&amp;csui=3" TargetMode="External"/><Relationship Id="rId5" Type="http://schemas.openxmlformats.org/officeDocument/2006/relationships/hyperlink" Target="https://www.google.com/search?q=High-Fiber+Crackers&amp;sca_esv=118142daaef610f7&amp;sxsrf=AE3TifMgbrp0fjRR5xwqEYaLcjnJKK5mIw%3A1765115651862&amp;ei=A4c1aaykNMr21e8P87fhsAY&amp;ved=2ahUKEwiJouuX0auRAxUdha8BHf7eIlEQgK4QegQIARAG&amp;uact=5&amp;oq=%E5%85%A8%E9%BA%A5%E9%A4%85%E4%B9%BE+%E8%8B%B1%E6%96%87&amp;gs_lp=Egxnd3Mtd2l6LXNlcnAiE-WFqOm6pemkheS5viDoi7HmlocyBRAAGIAEMggQABiABBiiBDIFEAAY7wUyBRAAGO8FSNQMUABYAHAAeACQAQCYATugATuqAQExuAEDyAEA-AEC-AEBmAIBoAJAmAMAkgcBMaAHxgGyBwExuAdAwgcDMi0xyAcDgAgA&amp;sclient=gws-wiz-serp&amp;mstk=AUtExfDSEGtpt0FgObmqaKXovIFXmJYD7KK1-TgF8q-L4rPYOOGZcIeXErJ1vKv3voJA2HdED9p2Yej7KHlNjpcgEuGI0jbUhyXaOaw6PvpOXCq0H-s-bV0Tm-5qPXVrznIAX0mhoCibRjN3qmN2NOLu7MmbXMdbYzabU0qKhGxW2IqlJrks9iwn4aFqQd37Ulckpfw7F3DFZUh2KYoPhbnMo0KTXqG_lDJqMgyAY4AjN9iCptOA4SWwKAIx-2IyqOm7ADF7an7PfTQUubEbbpjv1bRQ&amp;csui=3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t/>
            </a:r>
            <a:endParaRPr/>
          </a:p>
        </p:txBody>
      </p:sp>
      <p:pic>
        <p:nvPicPr>
          <p:cNvPr id="198" name="Google Shape;198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e45a526a3_0_0"/>
          <p:cNvSpPr txBox="1"/>
          <p:nvPr>
            <p:ph type="title"/>
          </p:nvPr>
        </p:nvSpPr>
        <p:spPr>
          <a:xfrm>
            <a:off x="680325" y="753223"/>
            <a:ext cx="9613800" cy="158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800">
                <a:solidFill>
                  <a:srgbClr val="FF00FF"/>
                </a:solidFill>
              </a:rPr>
              <a:t>棉花糖</a:t>
            </a:r>
            <a:endParaRPr sz="7800">
              <a:solidFill>
                <a:srgbClr val="FF00FF"/>
              </a:solidFill>
            </a:endParaRPr>
          </a:p>
        </p:txBody>
      </p:sp>
      <p:sp>
        <p:nvSpPr>
          <p:cNvPr id="204" name="Google Shape;204;g3ae45a526a3_0_0"/>
          <p:cNvSpPr txBox="1"/>
          <p:nvPr>
            <p:ph idx="1" type="body"/>
          </p:nvPr>
        </p:nvSpPr>
        <p:spPr>
          <a:xfrm>
            <a:off x="1289096" y="233692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3200" u="sng">
                <a:solidFill>
                  <a:schemeClr val="hlink"/>
                </a:solidFill>
                <a:hlinkClick r:id="rId3"/>
              </a:rPr>
              <a:t>https://www.youtube.com/watch?v=lXtbQeGPnZs</a:t>
            </a:r>
            <a:endParaRPr sz="3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0000"/>
              </a:solidFill>
            </a:endParaRPr>
          </a:p>
        </p:txBody>
      </p:sp>
      <p:pic>
        <p:nvPicPr>
          <p:cNvPr id="205" name="Google Shape;205;g3ae45a526a3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4674" y="3040900"/>
            <a:ext cx="8355601" cy="39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e45a526a3_0_5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100">
                <a:solidFill>
                  <a:srgbClr val="FF00FF"/>
                </a:solidFill>
              </a:rPr>
              <a:t>雪Ｑ餅</a:t>
            </a:r>
            <a:endParaRPr sz="7100">
              <a:solidFill>
                <a:srgbClr val="FF00FF"/>
              </a:solidFill>
            </a:endParaRPr>
          </a:p>
        </p:txBody>
      </p:sp>
      <p:sp>
        <p:nvSpPr>
          <p:cNvPr id="211" name="Google Shape;211;g3ae45a526a3_0_5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4800" u="sng">
                <a:solidFill>
                  <a:srgbClr val="FF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https://www.youtube.com/watch?v=AJpkLTVt43c</a:t>
            </a:r>
            <a:endParaRPr sz="48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906371abd_0_0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zh-TW" sz="5538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吉利丁</a:t>
            </a:r>
            <a:endParaRPr sz="5538">
              <a:solidFill>
                <a:srgbClr val="FF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55555"/>
              <a:buNone/>
            </a:pPr>
            <a:r>
              <a:t/>
            </a:r>
            <a:endParaRPr/>
          </a:p>
        </p:txBody>
      </p:sp>
      <p:sp>
        <p:nvSpPr>
          <p:cNvPr id="217" name="Google Shape;217;g39906371abd_0_0"/>
          <p:cNvSpPr txBox="1"/>
          <p:nvPr>
            <p:ph idx="1" type="body"/>
          </p:nvPr>
        </p:nvSpPr>
        <p:spPr>
          <a:xfrm>
            <a:off x="2098200" y="1834125"/>
            <a:ext cx="9613800" cy="4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TW" sz="4200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吉利丁的英文是 </a:t>
            </a:r>
            <a:r>
              <a:rPr lang="zh-TW" sz="420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Gelatin</a:t>
            </a:r>
            <a:r>
              <a:rPr lang="zh-TW" sz="4200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，音譯自英文 Gelatine，</a:t>
            </a:r>
            <a:endParaRPr sz="4200">
              <a:solidFill>
                <a:srgbClr val="FF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TW" sz="4200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中文也常稱為明膠或魚膠，是從動物骨頭或皮提煉出的蛋白質膠質，</a:t>
            </a:r>
            <a:endParaRPr sz="4200">
              <a:solidFill>
                <a:srgbClr val="FF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TW" sz="4200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常見形式有吉利丁片（Gelatin Sheets）和吉利丁粉（Gelatin Powder）</a:t>
            </a:r>
            <a:endParaRPr sz="84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e45a526a3_0_14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0">
                <a:solidFill>
                  <a:srgbClr val="FF00FF"/>
                </a:solidFill>
              </a:rPr>
              <a:t>凍</a:t>
            </a:r>
            <a:endParaRPr sz="8000">
              <a:solidFill>
                <a:srgbClr val="FF00FF"/>
              </a:solidFill>
            </a:endParaRPr>
          </a:p>
        </p:txBody>
      </p:sp>
      <p:sp>
        <p:nvSpPr>
          <p:cNvPr id="223" name="Google Shape;223;g3ae45a526a3_0_14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950" u="sng">
                <a:solidFill>
                  <a:schemeClr val="hlink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布丁的凝固劑「吉利丁」取自動物膠質！用溫差將美食「凍」上桌</a:t>
            </a:r>
            <a:endParaRPr sz="3950">
              <a:solidFill>
                <a:srgbClr val="FF00FF"/>
              </a:solidFill>
              <a:highlight>
                <a:srgbClr val="FFFFFF"/>
              </a:highlight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e45a526a3_0_20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600">
                <a:solidFill>
                  <a:srgbClr val="FF00FF"/>
                </a:solidFill>
                <a:highlight>
                  <a:srgbClr val="DDDDDD"/>
                </a:highlight>
                <a:latin typeface="Verdana"/>
                <a:ea typeface="Verdana"/>
                <a:cs typeface="Verdana"/>
                <a:sym typeface="Verdana"/>
              </a:rPr>
              <a:t>[凝膠類]有14種食材</a:t>
            </a:r>
            <a:endParaRPr sz="9000">
              <a:solidFill>
                <a:srgbClr val="FF00FF"/>
              </a:solidFill>
            </a:endParaRPr>
          </a:p>
        </p:txBody>
      </p:sp>
      <p:sp>
        <p:nvSpPr>
          <p:cNvPr id="229" name="Google Shape;229;g3ae45a526a3_0_20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4000" u="sng">
                <a:solidFill>
                  <a:srgbClr val="FF00FF"/>
                </a:solidFill>
                <a:highlight>
                  <a:srgbClr val="DDDDDD"/>
                </a:highlight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https://www.ytower.com.tw/material/material.asp?type=%BE%AE%BD%A6&amp;srsltid=AfmBOorugsW6PdTPwLtYDAAsagA6HnOynkt34aECiYE5fLECW06Y95Bj</a:t>
            </a:r>
            <a:endParaRPr sz="4000">
              <a:solidFill>
                <a:srgbClr val="FF00FF"/>
              </a:solidFill>
              <a:highlight>
                <a:srgbClr val="DDDDDD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DDDDDD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e45a526a3_0_60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ae45a526a3_0_60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g3ae45a526a3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e45a526a3_0_34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ae45a526a3_0_34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g3ae45a526a3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e45a526a3_0_40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ae45a526a3_0_40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g3ae45a526a3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e45a526a3_0_55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F0F0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5788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牛軋糖餅乾 HD</a:t>
            </a:r>
            <a:endParaRPr sz="7088">
              <a:solidFill>
                <a:srgbClr val="FF00FF"/>
              </a:solidFill>
            </a:endParaRPr>
          </a:p>
        </p:txBody>
      </p:sp>
      <p:sp>
        <p:nvSpPr>
          <p:cNvPr id="256" name="Google Shape;256;g3ae45a526a3_0_55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 u="sng">
                <a:solidFill>
                  <a:srgbClr val="FF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</a:t>
            </a:r>
            <a:r>
              <a:rPr lang="zh-TW" sz="4500" u="sng">
                <a:solidFill>
                  <a:srgbClr val="FF00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ttps://www.youtube.com/watch?v=eXINCM031Wc</a:t>
            </a:r>
            <a:endParaRPr sz="45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e45a526a3_0_69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ae45a526a3_0_69"/>
          <p:cNvSpPr txBox="1"/>
          <p:nvPr>
            <p:ph idx="1" type="body"/>
          </p:nvPr>
        </p:nvSpPr>
        <p:spPr>
          <a:xfrm>
            <a:off x="680325" y="1016000"/>
            <a:ext cx="9613800" cy="5297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16074" lvl="0" marL="89999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FF"/>
              </a:buClr>
              <a:buSzPts val="5450"/>
              <a:buAutoNum type="arabicPeriod"/>
            </a:pPr>
            <a:r>
              <a:rPr lang="zh-TW" sz="545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棉花糖的成分?</a:t>
            </a:r>
            <a:endParaRPr sz="5450">
              <a:solidFill>
                <a:srgbClr val="00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420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棉花糖主要成分是糖、水，並加入</a:t>
            </a:r>
            <a:r>
              <a:rPr lang="zh-TW" sz="420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明膠</a:t>
            </a:r>
            <a:r>
              <a:rPr lang="zh-TW" sz="420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（動物來源）或植物性膠質（如</a:t>
            </a:r>
            <a:r>
              <a:rPr lang="zh-TW" sz="420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鹿角菜膠</a:t>
            </a:r>
            <a:r>
              <a:rPr lang="zh-TW" sz="420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）來提供</a:t>
            </a:r>
            <a:r>
              <a:rPr lang="zh-TW" sz="420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Q彈口感</a:t>
            </a:r>
            <a:r>
              <a:rPr lang="zh-TW" sz="4200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。 此外，還會添加甜味劑、香料、</a:t>
            </a:r>
            <a:endParaRPr sz="5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e45a526a3_0_74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ae45a526a3_0_74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69" name="Google Shape;269;g3ae45a526a3_0_74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{3F33863E-6620-483D-9E47-D3E7B9672B18}</a:tableStyleId>
              </a:tblPr>
              <a:tblGrid>
                <a:gridCol w="2274050"/>
                <a:gridCol w="6304275"/>
                <a:gridCol w="2679325"/>
              </a:tblGrid>
              <a:tr h="65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4000">
                          <a:solidFill>
                            <a:srgbClr val="FF00FF"/>
                          </a:solidFill>
                        </a:rPr>
                        <a:t>材料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4000">
                          <a:solidFill>
                            <a:srgbClr val="FF00FF"/>
                          </a:solidFill>
                        </a:rPr>
                        <a:t>Ingredients英文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4000">
                          <a:solidFill>
                            <a:srgbClr val="FF00FF"/>
                          </a:solidFill>
                        </a:rPr>
                        <a:t>份量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</a:tr>
              <a:tr h="89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zh-TW" sz="3950">
                          <a:solidFill>
                            <a:srgbClr val="FF00FF"/>
                          </a:solidFill>
                        </a:rPr>
                        <a:t>奶油 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zh-TW" sz="3950">
                          <a:solidFill>
                            <a:srgbClr val="FF00FF"/>
                          </a:solidFill>
                        </a:rPr>
                        <a:t>30g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</a:tr>
              <a:tr h="85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zh-TW" sz="3950">
                          <a:solidFill>
                            <a:srgbClr val="FF00FF"/>
                          </a:solidFill>
                        </a:rPr>
                        <a:t>棉花糖 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3810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4300">
                          <a:solidFill>
                            <a:srgbClr val="FF00FF"/>
                          </a:solidFill>
                          <a:highlight>
                            <a:srgbClr val="F8F9FA"/>
                          </a:highlight>
                        </a:rPr>
                        <a:t>Marshmallow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zh-TW" sz="3950">
                          <a:solidFill>
                            <a:srgbClr val="FF00FF"/>
                          </a:solidFill>
                        </a:rPr>
                        <a:t>150g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</a:tr>
              <a:tr h="9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zh-TW" sz="3950">
                          <a:solidFill>
                            <a:srgbClr val="FF00FF"/>
                          </a:solidFill>
                        </a:rPr>
                        <a:t>奶粉 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38100" rtl="0" algn="l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4600">
                          <a:solidFill>
                            <a:srgbClr val="FF00FF"/>
                          </a:solidFill>
                          <a:highlight>
                            <a:srgbClr val="F8F9FA"/>
                          </a:highlight>
                        </a:rPr>
                        <a:t>milk powder</a:t>
                      </a:r>
                      <a:endParaRPr sz="65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zh-TW" sz="3950">
                          <a:solidFill>
                            <a:srgbClr val="FF00FF"/>
                          </a:solidFill>
                        </a:rPr>
                        <a:t>30g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</a:tr>
              <a:tr h="89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4000">
                          <a:solidFill>
                            <a:srgbClr val="FF00FF"/>
                          </a:solidFill>
                        </a:rPr>
                        <a:t>杏仁粒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410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Chopped Almonds</a:t>
                      </a:r>
                      <a:r>
                        <a:rPr lang="zh-TW" sz="410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zh-TW" sz="3950">
                          <a:solidFill>
                            <a:srgbClr val="FF00FF"/>
                          </a:solidFill>
                        </a:rPr>
                        <a:t>50g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</a:tr>
              <a:tr h="106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zh-TW" sz="3950">
                          <a:solidFill>
                            <a:srgbClr val="FF00FF"/>
                          </a:solidFill>
                        </a:rPr>
                        <a:t>全麥餅乾 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410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Whole Grain Crackers</a:t>
                      </a:r>
                      <a:r>
                        <a:rPr lang="zh-TW" sz="410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endParaRPr sz="410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410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High-Fiber Crackers</a:t>
                      </a:r>
                      <a:endParaRPr sz="4100">
                        <a:solidFill>
                          <a:srgbClr val="FF00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zh-TW" sz="3950">
                          <a:solidFill>
                            <a:srgbClr val="FF00FF"/>
                          </a:solidFill>
                        </a:rPr>
                        <a:t>200g 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</a:tr>
              <a:tr h="89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zh-TW" sz="3950">
                          <a:solidFill>
                            <a:srgbClr val="FF00FF"/>
                          </a:solidFill>
                        </a:rPr>
                        <a:t>蔓越莓乾 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4100">
                          <a:solidFill>
                            <a:srgbClr val="FF00FF"/>
                          </a:solidFill>
                          <a:highlight>
                            <a:srgbClr val="FFFFFF"/>
                          </a:highlight>
                        </a:rPr>
                        <a:t>Dried Cranberries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zh-TW" sz="3950">
                          <a:solidFill>
                            <a:srgbClr val="FF00FF"/>
                          </a:solidFill>
                        </a:rPr>
                        <a:t>100g</a:t>
                      </a:r>
                      <a:endParaRPr sz="4000">
                        <a:solidFill>
                          <a:srgbClr val="FF00FF"/>
                        </a:solidFill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e45a526a3_0_85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ae45a526a3_0_85"/>
          <p:cNvSpPr txBox="1"/>
          <p:nvPr>
            <p:ph idx="1" type="body"/>
          </p:nvPr>
        </p:nvSpPr>
        <p:spPr>
          <a:xfrm>
            <a:off x="0" y="753225"/>
            <a:ext cx="12627600" cy="585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039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F00FF"/>
              </a:buClr>
              <a:buSzPts val="4794"/>
              <a:buChar char="●"/>
            </a:pPr>
            <a:r>
              <a:rPr lang="zh-TW" sz="4794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Cookie: 甜甜鬆鬆的巧克力餅乾。</a:t>
            </a:r>
            <a:endParaRPr sz="4794">
              <a:solidFill>
                <a:srgbClr val="FF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53303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4794"/>
              <a:buChar char="●"/>
            </a:pPr>
            <a:r>
              <a:rPr lang="zh-TW" sz="4794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Cracker: 鹹鹹脆脆的蘇打餅 (配起司不錯)。</a:t>
            </a:r>
            <a:endParaRPr sz="4794">
              <a:solidFill>
                <a:srgbClr val="FF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53303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4794"/>
              <a:buChar char="●"/>
            </a:pPr>
            <a:r>
              <a:rPr lang="zh-TW" sz="4794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Biscuit: (英式) 像 Cookie；(美式) 像司康的小麵包。 </a:t>
            </a:r>
            <a:endParaRPr sz="4794">
              <a:solidFill>
                <a:srgbClr val="FF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44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柏林">
  <a:themeElements>
    <a:clrScheme name="Berlin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2019-11-12T06:41:14Z</dcterms:created>
  <dc:creator>admin</dc:creator>
</cp:coreProperties>
</file>