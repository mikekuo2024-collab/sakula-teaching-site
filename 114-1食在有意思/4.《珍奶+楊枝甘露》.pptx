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Arim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2qvFuyQavX97hkeLlbRadQZU6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25AC7B-8D5D-4DE8-AB05-E509DCFC1C96}">
  <a:tblStyle styleId="{B925AC7B-8D5D-4DE8-AB05-E509DCFC1C9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7D849BA-16C2-402E-B40B-EE97CC21342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rim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rimo-italic.fntdata"/><Relationship Id="rId6" Type="http://schemas.openxmlformats.org/officeDocument/2006/relationships/slide" Target="slides/slide1.xml"/><Relationship Id="rId18" Type="http://schemas.openxmlformats.org/officeDocument/2006/relationships/font" Target="fonts/Arim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501996e58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9501996e5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e8a7c21308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e8a7c2130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8fce14f9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e8fce14f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8fce14f93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8fce14f9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115ffb84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115ffb8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115ffb844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f115ffb84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115ffb844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f115ffb84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8fce14f93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e8fce14f9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8fce14f93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e8fce14f9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9d571dece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9d571dec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2" name="Google Shape;1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3" name="Google Shape;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1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1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Short.png" id="20" name="Google Shape;20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24" name="Google Shape;2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4242851"/>
            <a:ext cx="8968084" cy="275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25" name="Google Shape;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1716" y="4243845"/>
            <a:ext cx="3077108" cy="27694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2"/>
          <p:cNvSpPr/>
          <p:nvPr/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2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2"/>
          <p:cNvSpPr txBox="1"/>
          <p:nvPr>
            <p:ph type="ctrTitle"/>
          </p:nvPr>
        </p:nvSpPr>
        <p:spPr>
          <a:xfrm>
            <a:off x="680322" y="2733709"/>
            <a:ext cx="8144134" cy="13730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rebuchet MS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subTitle"/>
          </p:nvPr>
        </p:nvSpPr>
        <p:spPr>
          <a:xfrm>
            <a:off x="680322" y="4394039"/>
            <a:ext cx="8144134" cy="11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9255346" y="2750337"/>
            <a:ext cx="1171888" cy="13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/>
          <p:nvPr/>
        </p:nvSpPr>
        <p:spPr>
          <a:xfrm rot="5400000">
            <a:off x="8116207" y="1869395"/>
            <a:ext cx="5106988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4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4"/>
          <p:cNvSpPr txBox="1"/>
          <p:nvPr>
            <p:ph type="title"/>
          </p:nvPr>
        </p:nvSpPr>
        <p:spPr>
          <a:xfrm rot="5400000">
            <a:off x="8489252" y="2249576"/>
            <a:ext cx="4353760" cy="1073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" type="body"/>
          </p:nvPr>
        </p:nvSpPr>
        <p:spPr>
          <a:xfrm rot="5400000">
            <a:off x="2452030" y="-1162110"/>
            <a:ext cx="5326589" cy="8870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0" type="dt"/>
          </p:nvPr>
        </p:nvSpPr>
        <p:spPr>
          <a:xfrm>
            <a:off x="6807126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1" type="ftr"/>
          </p:nvPr>
        </p:nvSpPr>
        <p:spPr>
          <a:xfrm>
            <a:off x="680321" y="5936188"/>
            <a:ext cx="61268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2" type="sldNum"/>
          </p:nvPr>
        </p:nvSpPr>
        <p:spPr>
          <a:xfrm>
            <a:off x="10097550" y="5398633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42" name="Google Shape;4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4086907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43" name="Google Shape;4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4" y="4087901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5"/>
          <p:cNvSpPr/>
          <p:nvPr/>
        </p:nvSpPr>
        <p:spPr>
          <a:xfrm>
            <a:off x="-2" y="2726267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5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5"/>
          <p:cNvSpPr txBox="1"/>
          <p:nvPr>
            <p:ph type="title"/>
          </p:nvPr>
        </p:nvSpPr>
        <p:spPr>
          <a:xfrm>
            <a:off x="680322" y="2869895"/>
            <a:ext cx="9613860" cy="109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" type="body"/>
          </p:nvPr>
        </p:nvSpPr>
        <p:spPr>
          <a:xfrm>
            <a:off x="680322" y="4232171"/>
            <a:ext cx="9613860" cy="1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2" type="sldNum"/>
          </p:nvPr>
        </p:nvSpPr>
        <p:spPr>
          <a:xfrm>
            <a:off x="10729455" y="286989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52" name="Google Shape;5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53" name="Google Shape;5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6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" type="body"/>
          </p:nvPr>
        </p:nvSpPr>
        <p:spPr>
          <a:xfrm>
            <a:off x="680320" y="2336873"/>
            <a:ext cx="46983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2" type="body"/>
          </p:nvPr>
        </p:nvSpPr>
        <p:spPr>
          <a:xfrm>
            <a:off x="5594123" y="2336873"/>
            <a:ext cx="4700058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63" name="Google Shape;6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64" name="Google Shape;6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7"/>
          <p:cNvSpPr txBox="1"/>
          <p:nvPr>
            <p:ph type="title"/>
          </p:nvPr>
        </p:nvSpPr>
        <p:spPr>
          <a:xfrm>
            <a:off x="680319" y="753229"/>
            <a:ext cx="9613863" cy="1080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906350" y="2336873"/>
            <a:ext cx="4472327" cy="6931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9" name="Google Shape;69;p27"/>
          <p:cNvSpPr txBox="1"/>
          <p:nvPr>
            <p:ph idx="2" type="body"/>
          </p:nvPr>
        </p:nvSpPr>
        <p:spPr>
          <a:xfrm>
            <a:off x="680322" y="3030008"/>
            <a:ext cx="4698355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3" type="body"/>
          </p:nvPr>
        </p:nvSpPr>
        <p:spPr>
          <a:xfrm>
            <a:off x="5820154" y="2336873"/>
            <a:ext cx="4474028" cy="6920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1" name="Google Shape;71;p27"/>
          <p:cNvSpPr txBox="1"/>
          <p:nvPr>
            <p:ph idx="4" type="body"/>
          </p:nvPr>
        </p:nvSpPr>
        <p:spPr>
          <a:xfrm>
            <a:off x="5594123" y="3030008"/>
            <a:ext cx="4700059" cy="29061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76" name="Google Shape;76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77" name="Google Shape;7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8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8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85" name="Google Shape;8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86" name="Google Shape;8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9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9"/>
          <p:cNvSpPr txBox="1"/>
          <p:nvPr>
            <p:ph type="title"/>
          </p:nvPr>
        </p:nvSpPr>
        <p:spPr>
          <a:xfrm>
            <a:off x="680321" y="753227"/>
            <a:ext cx="9613859" cy="1080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9"/>
          <p:cNvSpPr txBox="1"/>
          <p:nvPr>
            <p:ph idx="1" type="body"/>
          </p:nvPr>
        </p:nvSpPr>
        <p:spPr>
          <a:xfrm>
            <a:off x="4685846" y="2336873"/>
            <a:ext cx="5608336" cy="3599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9"/>
          <p:cNvSpPr txBox="1"/>
          <p:nvPr>
            <p:ph idx="2" type="body"/>
          </p:nvPr>
        </p:nvSpPr>
        <p:spPr>
          <a:xfrm>
            <a:off x="680322" y="2336872"/>
            <a:ext cx="3790078" cy="35993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2" name="Google Shape;92;p29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9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9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96" name="Google Shape;9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97" name="Google Shape;9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0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0"/>
          <p:cNvSpPr txBox="1"/>
          <p:nvPr>
            <p:ph type="title"/>
          </p:nvPr>
        </p:nvSpPr>
        <p:spPr>
          <a:xfrm>
            <a:off x="680323" y="753228"/>
            <a:ext cx="9613857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0"/>
          <p:cNvSpPr/>
          <p:nvPr>
            <p:ph idx="2" type="pic"/>
          </p:nvPr>
        </p:nvSpPr>
        <p:spPr>
          <a:xfrm>
            <a:off x="4868333" y="2336874"/>
            <a:ext cx="5425849" cy="3599312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102" name="Google Shape;102;p30"/>
          <p:cNvSpPr txBox="1"/>
          <p:nvPr>
            <p:ph idx="1" type="body"/>
          </p:nvPr>
        </p:nvSpPr>
        <p:spPr>
          <a:xfrm>
            <a:off x="680323" y="2336873"/>
            <a:ext cx="3876256" cy="3599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3" name="Google Shape;103;p30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0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0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全景圖片 (含標題)">
  <p:cSld name="全景圖片 (含標題)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07" name="Google Shape;107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08" name="Google Shape;10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1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1"/>
          <p:cNvSpPr txBox="1"/>
          <p:nvPr>
            <p:ph type="title"/>
          </p:nvPr>
        </p:nvSpPr>
        <p:spPr>
          <a:xfrm>
            <a:off x="680322" y="4711616"/>
            <a:ext cx="9613859" cy="453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rebuchet M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1"/>
          <p:cNvSpPr/>
          <p:nvPr>
            <p:ph idx="2" type="pic"/>
          </p:nvPr>
        </p:nvSpPr>
        <p:spPr>
          <a:xfrm>
            <a:off x="680322" y="609597"/>
            <a:ext cx="9613859" cy="3589575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4"/>
              </a:srgbClr>
            </a:outerShdw>
          </a:effectLst>
        </p:spPr>
      </p:sp>
      <p:sp>
        <p:nvSpPr>
          <p:cNvPr id="113" name="Google Shape;113;p31"/>
          <p:cNvSpPr txBox="1"/>
          <p:nvPr>
            <p:ph idx="1" type="body"/>
          </p:nvPr>
        </p:nvSpPr>
        <p:spPr>
          <a:xfrm>
            <a:off x="680319" y="5169583"/>
            <a:ext cx="9613862" cy="622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4" name="Google Shape;114;p31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1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1"/>
          <p:cNvSpPr txBox="1"/>
          <p:nvPr>
            <p:ph idx="12" type="sldNum"/>
          </p:nvPr>
        </p:nvSpPr>
        <p:spPr>
          <a:xfrm>
            <a:off x="10729455" y="4711309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與說明文字">
  <p:cSld name="標題與說明文字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18" name="Google Shape;118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19" name="Google Shape;11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2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2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2"/>
          <p:cNvSpPr txBox="1"/>
          <p:nvPr>
            <p:ph type="title"/>
          </p:nvPr>
        </p:nvSpPr>
        <p:spPr>
          <a:xfrm>
            <a:off x="680322" y="609597"/>
            <a:ext cx="9613858" cy="359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2"/>
          <p:cNvSpPr txBox="1"/>
          <p:nvPr>
            <p:ph idx="1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4" name="Google Shape;124;p32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2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2"/>
          <p:cNvSpPr txBox="1"/>
          <p:nvPr>
            <p:ph idx="12" type="sldNum"/>
          </p:nvPr>
        </p:nvSpPr>
        <p:spPr>
          <a:xfrm>
            <a:off x="10729455" y="471161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引述 (含標題)">
  <p:cSld name="引述 (含標題)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28" name="Google Shape;128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29" name="Google Shape;12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3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3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3"/>
          <p:cNvSpPr txBox="1"/>
          <p:nvPr>
            <p:ph type="title"/>
          </p:nvPr>
        </p:nvSpPr>
        <p:spPr>
          <a:xfrm>
            <a:off x="1127856" y="609598"/>
            <a:ext cx="8718877" cy="3036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3"/>
          <p:cNvSpPr txBox="1"/>
          <p:nvPr>
            <p:ph idx="1" type="body"/>
          </p:nvPr>
        </p:nvSpPr>
        <p:spPr>
          <a:xfrm>
            <a:off x="1402288" y="3653379"/>
            <a:ext cx="815657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4" name="Google Shape;134;p33"/>
          <p:cNvSpPr txBox="1"/>
          <p:nvPr>
            <p:ph idx="2" type="body"/>
          </p:nvPr>
        </p:nvSpPr>
        <p:spPr>
          <a:xfrm>
            <a:off x="680322" y="4711615"/>
            <a:ext cx="9613859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5" name="Google Shape;135;p33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3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3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8" name="Google Shape;138;p33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i="0" lang="zh-TW" sz="7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3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rebuchet MS"/>
              <a:buNone/>
            </a:pPr>
            <a:r>
              <a:rPr b="0" i="0" lang="zh-TW" sz="72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名片">
  <p:cSld name="名片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41" name="Google Shape;141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928628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42" name="Google Shape;14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5929622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4"/>
          <p:cNvSpPr/>
          <p:nvPr/>
        </p:nvSpPr>
        <p:spPr>
          <a:xfrm>
            <a:off x="0" y="4567988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4"/>
          <p:cNvSpPr txBox="1"/>
          <p:nvPr>
            <p:ph type="title"/>
          </p:nvPr>
        </p:nvSpPr>
        <p:spPr>
          <a:xfrm>
            <a:off x="680319" y="4711615"/>
            <a:ext cx="9613862" cy="5885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rebuchet M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4"/>
          <p:cNvSpPr txBox="1"/>
          <p:nvPr>
            <p:ph idx="1" type="body"/>
          </p:nvPr>
        </p:nvSpPr>
        <p:spPr>
          <a:xfrm>
            <a:off x="680320" y="5300149"/>
            <a:ext cx="9613862" cy="5022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7" name="Google Shape;147;p34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4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4"/>
          <p:cNvSpPr txBox="1"/>
          <p:nvPr>
            <p:ph idx="12" type="sldNum"/>
          </p:nvPr>
        </p:nvSpPr>
        <p:spPr>
          <a:xfrm>
            <a:off x="10729455" y="4709925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欄">
  <p:cSld name="3 欄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51" name="Google Shape;1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52" name="Google Shape;15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5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5"/>
          <p:cNvSpPr txBox="1"/>
          <p:nvPr>
            <p:ph type="title"/>
          </p:nvPr>
        </p:nvSpPr>
        <p:spPr>
          <a:xfrm>
            <a:off x="669222" y="753228"/>
            <a:ext cx="96249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5"/>
          <p:cNvSpPr txBox="1"/>
          <p:nvPr>
            <p:ph idx="1" type="body"/>
          </p:nvPr>
        </p:nvSpPr>
        <p:spPr>
          <a:xfrm>
            <a:off x="660946" y="2336873"/>
            <a:ext cx="307003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7" name="Google Shape;157;p35"/>
          <p:cNvSpPr txBox="1"/>
          <p:nvPr>
            <p:ph idx="2" type="body"/>
          </p:nvPr>
        </p:nvSpPr>
        <p:spPr>
          <a:xfrm>
            <a:off x="680322" y="3022673"/>
            <a:ext cx="3049702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8" name="Google Shape;158;p35"/>
          <p:cNvSpPr txBox="1"/>
          <p:nvPr>
            <p:ph idx="3" type="body"/>
          </p:nvPr>
        </p:nvSpPr>
        <p:spPr>
          <a:xfrm>
            <a:off x="3956025" y="233687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9" name="Google Shape;159;p35"/>
          <p:cNvSpPr txBox="1"/>
          <p:nvPr>
            <p:ph idx="4" type="body"/>
          </p:nvPr>
        </p:nvSpPr>
        <p:spPr>
          <a:xfrm>
            <a:off x="3945470" y="3022673"/>
            <a:ext cx="3063240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60" name="Google Shape;160;p35"/>
          <p:cNvSpPr txBox="1"/>
          <p:nvPr>
            <p:ph idx="5" type="body"/>
          </p:nvPr>
        </p:nvSpPr>
        <p:spPr>
          <a:xfrm>
            <a:off x="7224156" y="2336873"/>
            <a:ext cx="30700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1" name="Google Shape;161;p35"/>
          <p:cNvSpPr txBox="1"/>
          <p:nvPr>
            <p:ph idx="6" type="body"/>
          </p:nvPr>
        </p:nvSpPr>
        <p:spPr>
          <a:xfrm>
            <a:off x="7224156" y="3022673"/>
            <a:ext cx="3070025" cy="2913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62" name="Google Shape;162;p35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5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5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圖片欄">
  <p:cSld name="3 圖片欄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66" name="Google Shape;16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67" name="Google Shape;16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6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6"/>
          <p:cNvSpPr txBox="1"/>
          <p:nvPr>
            <p:ph type="title"/>
          </p:nvPr>
        </p:nvSpPr>
        <p:spPr>
          <a:xfrm>
            <a:off x="680322" y="753228"/>
            <a:ext cx="9613860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6"/>
          <p:cNvSpPr txBox="1"/>
          <p:nvPr>
            <p:ph idx="1" type="body"/>
          </p:nvPr>
        </p:nvSpPr>
        <p:spPr>
          <a:xfrm>
            <a:off x="680318" y="4297503"/>
            <a:ext cx="30497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2" name="Google Shape;172;p36"/>
          <p:cNvSpPr/>
          <p:nvPr>
            <p:ph idx="2" type="pic"/>
          </p:nvPr>
        </p:nvSpPr>
        <p:spPr>
          <a:xfrm>
            <a:off x="680318" y="2336873"/>
            <a:ext cx="30497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3" name="Google Shape;173;p36"/>
          <p:cNvSpPr txBox="1"/>
          <p:nvPr>
            <p:ph idx="3" type="body"/>
          </p:nvPr>
        </p:nvSpPr>
        <p:spPr>
          <a:xfrm>
            <a:off x="680318" y="4873765"/>
            <a:ext cx="3049705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4" name="Google Shape;174;p36"/>
          <p:cNvSpPr txBox="1"/>
          <p:nvPr>
            <p:ph idx="4" type="body"/>
          </p:nvPr>
        </p:nvSpPr>
        <p:spPr>
          <a:xfrm>
            <a:off x="3945471" y="4297503"/>
            <a:ext cx="3063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5" name="Google Shape;175;p36"/>
          <p:cNvSpPr/>
          <p:nvPr>
            <p:ph idx="5" type="pic"/>
          </p:nvPr>
        </p:nvSpPr>
        <p:spPr>
          <a:xfrm>
            <a:off x="3945470" y="2336873"/>
            <a:ext cx="3063240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6" name="Google Shape;176;p36"/>
          <p:cNvSpPr txBox="1"/>
          <p:nvPr>
            <p:ph idx="6" type="body"/>
          </p:nvPr>
        </p:nvSpPr>
        <p:spPr>
          <a:xfrm>
            <a:off x="3944117" y="4873764"/>
            <a:ext cx="3067297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7" name="Google Shape;177;p36"/>
          <p:cNvSpPr txBox="1"/>
          <p:nvPr>
            <p:ph idx="7" type="body"/>
          </p:nvPr>
        </p:nvSpPr>
        <p:spPr>
          <a:xfrm>
            <a:off x="7230678" y="4297503"/>
            <a:ext cx="306350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8" name="Google Shape;178;p36"/>
          <p:cNvSpPr/>
          <p:nvPr>
            <p:ph idx="8" type="pic"/>
          </p:nvPr>
        </p:nvSpPr>
        <p:spPr>
          <a:xfrm>
            <a:off x="7230677" y="2336873"/>
            <a:ext cx="3063505" cy="1524000"/>
          </a:xfrm>
          <a:prstGeom prst="roundRect">
            <a:avLst>
              <a:gd fmla="val 0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9" name="Google Shape;179;p36"/>
          <p:cNvSpPr txBox="1"/>
          <p:nvPr>
            <p:ph idx="9" type="body"/>
          </p:nvPr>
        </p:nvSpPr>
        <p:spPr>
          <a:xfrm>
            <a:off x="7230553" y="4873762"/>
            <a:ext cx="3067563" cy="1062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80" name="Google Shape;180;p36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6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6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184" name="Google Shape;184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2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185" name="Google Shape;18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7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7"/>
          <p:cNvSpPr/>
          <p:nvPr/>
        </p:nvSpPr>
        <p:spPr>
          <a:xfrm>
            <a:off x="0" y="609600"/>
            <a:ext cx="10437812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7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37"/>
          <p:cNvSpPr txBox="1"/>
          <p:nvPr>
            <p:ph idx="1" type="body"/>
          </p:nvPr>
        </p:nvSpPr>
        <p:spPr>
          <a:xfrm rot="5400000">
            <a:off x="3687594" y="-670400"/>
            <a:ext cx="3599316" cy="9613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p37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7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7"/>
          <p:cNvSpPr txBox="1"/>
          <p:nvPr>
            <p:ph idx="12" type="sldNum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ashOverlay-FullResolve.png" id="6" name="Google Shape;6;p20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0" y="32127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0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" type="body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0" type="dt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1" type="ftr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youtube.com/watch?v=1cX7NZYvO4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t/>
            </a:r>
            <a:endParaRPr/>
          </a:p>
        </p:txBody>
      </p:sp>
      <p:pic>
        <p:nvPicPr>
          <p:cNvPr id="198" name="Google Shape;198;p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501996e58_0_29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04" name="Google Shape;204;g39501996e58_0_29"/>
          <p:cNvSpPr txBox="1"/>
          <p:nvPr>
            <p:ph idx="1" type="body"/>
          </p:nvPr>
        </p:nvSpPr>
        <p:spPr>
          <a:xfrm>
            <a:off x="1201596" y="1834123"/>
            <a:ext cx="96138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5300">
                <a:solidFill>
                  <a:srgbClr val="FF00FF"/>
                </a:solidFill>
                <a:latin typeface="Arimo"/>
                <a:ea typeface="Arimo"/>
                <a:cs typeface="Arimo"/>
                <a:sym typeface="Arimo"/>
              </a:rPr>
              <a:t>114-</a:t>
            </a:r>
            <a:r>
              <a:rPr lang="zh-TW" sz="5300">
                <a:solidFill>
                  <a:srgbClr val="FF00FF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  <a:r>
              <a:rPr lang="zh-TW" sz="5300">
                <a:solidFill>
                  <a:srgbClr val="FF00FF"/>
                </a:solidFill>
                <a:latin typeface="Arimo"/>
                <a:ea typeface="Arimo"/>
                <a:cs typeface="Arimo"/>
                <a:sym typeface="Arimo"/>
              </a:rPr>
              <a:t>  &lt;食在有意思&gt;  學習單4  </a:t>
            </a:r>
            <a:endParaRPr sz="5300">
              <a:solidFill>
                <a:srgbClr val="FF00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5300">
                <a:solidFill>
                  <a:srgbClr val="FF00FF"/>
                </a:solidFill>
                <a:latin typeface="Arimo"/>
                <a:ea typeface="Arimo"/>
                <a:cs typeface="Arimo"/>
                <a:sym typeface="Arimo"/>
              </a:rPr>
              <a:t>主題：</a:t>
            </a:r>
            <a:r>
              <a:rPr lang="zh-TW" sz="5300">
                <a:solidFill>
                  <a:srgbClr val="FF00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zh-TW" sz="5300">
                <a:solidFill>
                  <a:srgbClr val="FF00FF"/>
                </a:solidFill>
                <a:latin typeface="Arimo"/>
                <a:ea typeface="Arimo"/>
                <a:cs typeface="Arimo"/>
                <a:sym typeface="Arimo"/>
              </a:rPr>
              <a:t>《珍奶+楊枝甘露》</a:t>
            </a:r>
            <a:endParaRPr sz="5300">
              <a:solidFill>
                <a:srgbClr val="FF00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63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8a7c21308_0_1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e8a7c21308_0_1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1" name="Google Shape;211;g3e8a7c21308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4" y="0"/>
            <a:ext cx="12185553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8fce14f93_0_12"/>
          <p:cNvSpPr txBox="1"/>
          <p:nvPr/>
        </p:nvSpPr>
        <p:spPr>
          <a:xfrm>
            <a:off x="3481100" y="1764850"/>
            <a:ext cx="62823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600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楊枝甘露</a:t>
            </a:r>
            <a:endParaRPr b="1" sz="6000">
              <a:solidFill>
                <a:srgbClr val="0F0F0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rgbClr val="0F0F0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115ffb844_0_0"/>
          <p:cNvSpPr txBox="1"/>
          <p:nvPr/>
        </p:nvSpPr>
        <p:spPr>
          <a:xfrm>
            <a:off x="1993800" y="352925"/>
            <a:ext cx="9148500" cy="6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楊枝甘露由來</a:t>
            </a:r>
            <a:endParaRPr sz="26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500">
                <a:solidFill>
                  <a:schemeClr val="dk1"/>
                </a:solidFill>
              </a:rPr>
              <a:t>當這道甜品研發出來後，因為風味酸甜交織，吃下去瞬間讓人感到無比消暑與清涼。主廚與高層靈機一動，想到了觀世音菩薩的典故：</a:t>
            </a:r>
            <a:endParaRPr sz="25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2500">
                <a:solidFill>
                  <a:schemeClr val="dk1"/>
                </a:solidFill>
              </a:rPr>
              <a:t>「這道甜品在盛夏中帶給人的清涼感，就像觀音菩薩用楊柳枝灑下甘露、普渡眾生一樣解暑！」</a:t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500">
                <a:solidFill>
                  <a:schemeClr val="dk1"/>
                </a:solidFill>
              </a:rPr>
              <a:t>此外，這道甜品的視覺與食材也暗合了這個典故：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zh-TW" sz="2500">
                <a:solidFill>
                  <a:schemeClr val="dk1"/>
                </a:solidFill>
              </a:rPr>
              <a:t>「楊枝」</a:t>
            </a:r>
            <a:r>
              <a:rPr lang="zh-TW" sz="2500">
                <a:solidFill>
                  <a:schemeClr val="dk1"/>
                </a:solidFill>
              </a:rPr>
              <a:t>：指這道甜品中所使用的</a:t>
            </a:r>
            <a:r>
              <a:rPr b="1" lang="zh-TW" sz="2500">
                <a:solidFill>
                  <a:schemeClr val="dk1"/>
                </a:solidFill>
              </a:rPr>
              <a:t>西柚肉（柚子肉）</a:t>
            </a:r>
            <a:r>
              <a:rPr lang="zh-TW" sz="2500">
                <a:solidFill>
                  <a:schemeClr val="dk1"/>
                </a:solidFill>
              </a:rPr>
              <a:t>，其一粒粒、一絲絲的果肉形狀，盛在碗裡就像是楊柳的枝葉。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zh-TW" sz="2500">
                <a:solidFill>
                  <a:schemeClr val="dk1"/>
                </a:solidFill>
              </a:rPr>
              <a:t>「甘露」</a:t>
            </a:r>
            <a:r>
              <a:rPr lang="zh-TW" sz="2500">
                <a:solidFill>
                  <a:schemeClr val="dk1"/>
                </a:solidFill>
              </a:rPr>
              <a:t>：指混合了芒果泥、椰奶與淡奶的</a:t>
            </a:r>
            <a:r>
              <a:rPr b="1" lang="zh-TW" sz="2500">
                <a:solidFill>
                  <a:schemeClr val="dk1"/>
                </a:solidFill>
              </a:rPr>
              <a:t>金黃色汁底</a:t>
            </a:r>
            <a:r>
              <a:rPr lang="zh-TW" sz="2500">
                <a:solidFill>
                  <a:schemeClr val="dk1"/>
                </a:solidFill>
              </a:rPr>
              <a:t>，濃郁滑順，就像是仙界降下的瓊漿玉液。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115ffb844_0_5"/>
          <p:cNvSpPr txBox="1"/>
          <p:nvPr/>
        </p:nvSpPr>
        <p:spPr>
          <a:xfrm>
            <a:off x="0" y="0"/>
            <a:ext cx="11623800" cy="6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4600">
                <a:solidFill>
                  <a:srgbClr val="FF00FF"/>
                </a:solidFill>
              </a:rPr>
              <a:t>珍珠奶茶是台灣的「國民之光」</a:t>
            </a:r>
            <a:endParaRPr sz="46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4600">
                <a:solidFill>
                  <a:srgbClr val="FF00FF"/>
                </a:solidFill>
              </a:rPr>
              <a:t>楊枝甘露是港式甜品中的「盛夏之后」</a:t>
            </a:r>
            <a:endParaRPr sz="46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4600">
                <a:solidFill>
                  <a:srgbClr val="FF00FF"/>
                </a:solidFill>
              </a:rPr>
              <a:t>評鑑楊枝甘露的魅力，最迷人的地方在於它「在</a:t>
            </a:r>
            <a:r>
              <a:rPr lang="zh-TW" sz="4600">
                <a:solidFill>
                  <a:srgbClr val="0000FF"/>
                </a:solidFill>
              </a:rPr>
              <a:t>濃郁</a:t>
            </a:r>
            <a:r>
              <a:rPr lang="zh-TW" sz="4600">
                <a:solidFill>
                  <a:srgbClr val="FF00FF"/>
                </a:solidFill>
              </a:rPr>
              <a:t>中追求清爽，在</a:t>
            </a:r>
            <a:r>
              <a:rPr lang="zh-TW" sz="4600">
                <a:solidFill>
                  <a:srgbClr val="0000FF"/>
                </a:solidFill>
              </a:rPr>
              <a:t>撞色</a:t>
            </a:r>
            <a:r>
              <a:rPr lang="zh-TW" sz="4600">
                <a:solidFill>
                  <a:srgbClr val="FF00FF"/>
                </a:solidFill>
              </a:rPr>
              <a:t>中維持平衡」的功力。這款甜品融合了</a:t>
            </a:r>
            <a:endParaRPr sz="4600">
              <a:solidFill>
                <a:srgbClr val="FF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4600">
                <a:solidFill>
                  <a:srgbClr val="0000FF"/>
                </a:solidFill>
              </a:rPr>
              <a:t>芒果的濃</a:t>
            </a:r>
            <a:r>
              <a:rPr lang="zh-TW" sz="4600">
                <a:solidFill>
                  <a:srgbClr val="FF00FF"/>
                </a:solidFill>
              </a:rPr>
              <a:t>、</a:t>
            </a:r>
            <a:r>
              <a:rPr lang="zh-TW" sz="4600">
                <a:solidFill>
                  <a:srgbClr val="0000FF"/>
                </a:solidFill>
              </a:rPr>
              <a:t>椰奶的香</a:t>
            </a:r>
            <a:r>
              <a:rPr lang="zh-TW" sz="4600">
                <a:solidFill>
                  <a:srgbClr val="FF00FF"/>
                </a:solidFill>
              </a:rPr>
              <a:t>、</a:t>
            </a:r>
            <a:endParaRPr sz="4600">
              <a:solidFill>
                <a:srgbClr val="FF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4600">
                <a:solidFill>
                  <a:srgbClr val="0000FF"/>
                </a:solidFill>
              </a:rPr>
              <a:t>柚肉的酸苦</a:t>
            </a:r>
            <a:r>
              <a:rPr lang="zh-TW" sz="4600">
                <a:solidFill>
                  <a:srgbClr val="FF00FF"/>
                </a:solidFill>
              </a:rPr>
              <a:t>與</a:t>
            </a:r>
            <a:r>
              <a:rPr lang="zh-TW" sz="4600">
                <a:solidFill>
                  <a:srgbClr val="0000FF"/>
                </a:solidFill>
              </a:rPr>
              <a:t>西米的滑</a:t>
            </a:r>
            <a:r>
              <a:rPr lang="zh-TW" sz="4600">
                <a:solidFill>
                  <a:srgbClr val="FF00FF"/>
                </a:solidFill>
              </a:rPr>
              <a:t>。</a:t>
            </a:r>
            <a:endParaRPr sz="46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" name="Google Shape;235;g3f115ffb844_0_11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{B925AC7B-8D5D-4DE8-AB05-E509DCFC1C96}</a:tableStyleId>
              </a:tblPr>
              <a:tblGrid>
                <a:gridCol w="972500"/>
                <a:gridCol w="5121825"/>
                <a:gridCol w="5121825"/>
              </a:tblGrid>
              <a:tr h="653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zh-TW" sz="2400">
                          <a:solidFill>
                            <a:srgbClr val="FF00FF"/>
                          </a:solidFill>
                        </a:rPr>
                        <a:t>評鑑維度</a:t>
                      </a:r>
                      <a:endParaRPr b="1" sz="2400">
                        <a:solidFill>
                          <a:srgbClr val="FF00F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zh-TW" sz="2400">
                          <a:solidFill>
                            <a:srgbClr val="FF00FF"/>
                          </a:solidFill>
                        </a:rPr>
                        <a:t>頂級楊枝甘露的表現（正面）</a:t>
                      </a:r>
                      <a:endParaRPr b="1" sz="2400">
                        <a:solidFill>
                          <a:srgbClr val="FF00F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zh-TW" sz="2400">
                          <a:solidFill>
                            <a:srgbClr val="FF00FF"/>
                          </a:solidFill>
                        </a:rPr>
                        <a:t>劣質楊枝甘露的表現（負面）</a:t>
                      </a:r>
                      <a:endParaRPr b="1" sz="2400">
                        <a:solidFill>
                          <a:srgbClr val="FF00F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1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zh-TW" sz="2400">
                          <a:solidFill>
                            <a:srgbClr val="FF00FF"/>
                          </a:solidFill>
                        </a:rPr>
                        <a:t>汁底風味</a:t>
                      </a:r>
                      <a:endParaRPr b="1" sz="2400">
                        <a:solidFill>
                          <a:srgbClr val="FF00F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zh-TW" sz="2400">
                          <a:solidFill>
                            <a:srgbClr val="FF00FF"/>
                          </a:solidFill>
                        </a:rPr>
                        <a:t>果香濃郁、絲滑順口</a:t>
                      </a:r>
                      <a:r>
                        <a:rPr lang="zh-TW" sz="2400">
                          <a:solidFill>
                            <a:srgbClr val="FF00FF"/>
                          </a:solidFill>
                        </a:rPr>
                        <a:t>（鮮打芒果泥的天然微酸與椰奶完美交織）</a:t>
                      </a:r>
                      <a:endParaRPr sz="2400">
                        <a:solidFill>
                          <a:srgbClr val="FF00F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zh-TW" sz="2400">
                          <a:solidFill>
                            <a:srgbClr val="FF00FF"/>
                          </a:solidFill>
                        </a:rPr>
                        <a:t>化學死甜、水感過重</a:t>
                      </a:r>
                      <a:r>
                        <a:rPr lang="zh-TW" sz="2400">
                          <a:solidFill>
                            <a:srgbClr val="FF00FF"/>
                          </a:solidFill>
                        </a:rPr>
                        <a:t>（使用劣質果漿或芒果濃縮汁，人工感重）</a:t>
                      </a:r>
                      <a:endParaRPr sz="2400">
                        <a:solidFill>
                          <a:srgbClr val="FF00F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3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zh-TW" sz="2400">
                          <a:solidFill>
                            <a:srgbClr val="0000FF"/>
                          </a:solidFill>
                        </a:rPr>
                        <a:t>柚肉處理</a:t>
                      </a:r>
                      <a:endParaRPr b="1" sz="2400">
                        <a:solidFill>
                          <a:srgbClr val="0000F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2400">
                          <a:solidFill>
                            <a:srgbClr val="0000FF"/>
                          </a:solidFill>
                        </a:rPr>
                        <a:t>粒粒飽滿、微酸帶甘</a:t>
                      </a:r>
                      <a:endParaRPr b="1" sz="24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zh-TW" sz="2400">
                          <a:solidFill>
                            <a:srgbClr val="0000FF"/>
                          </a:solidFill>
                        </a:rPr>
                        <a:t>（咬下瞬間爆汁，完美中和芒果的甜）</a:t>
                      </a:r>
                      <a:endParaRPr sz="2400">
                        <a:solidFill>
                          <a:srgbClr val="0000F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zh-TW" sz="2400">
                          <a:solidFill>
                            <a:srgbClr val="0000FF"/>
                          </a:solidFill>
                        </a:rPr>
                        <a:t>乾癟發苦、帶皮帶絡</a:t>
                      </a:r>
                      <a:r>
                        <a:rPr lang="zh-TW" sz="2400">
                          <a:solidFill>
                            <a:srgbClr val="0000FF"/>
                          </a:solidFill>
                        </a:rPr>
                        <a:t>（沒剝乾淨導致滿口苦澀，刮舌感明顯）</a:t>
                      </a:r>
                      <a:endParaRPr sz="2400">
                        <a:solidFill>
                          <a:srgbClr val="0000F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1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zh-TW" sz="2400">
                          <a:solidFill>
                            <a:srgbClr val="FF00FF"/>
                          </a:solidFill>
                        </a:rPr>
                        <a:t>西米口感</a:t>
                      </a:r>
                      <a:endParaRPr b="1" sz="2400">
                        <a:solidFill>
                          <a:srgbClr val="FF00F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2400">
                          <a:solidFill>
                            <a:srgbClr val="FF00FF"/>
                          </a:solidFill>
                        </a:rPr>
                        <a:t>滑溜分明、中心透亮</a:t>
                      </a:r>
                      <a:endParaRPr sz="2400">
                        <a:solidFill>
                          <a:srgbClr val="FF00F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zh-TW" sz="2400">
                          <a:solidFill>
                            <a:srgbClr val="FF00FF"/>
                          </a:solidFill>
                        </a:rPr>
                        <a:t>每粒西米都獨立滑順，增加趣味）</a:t>
                      </a:r>
                      <a:endParaRPr sz="2400">
                        <a:solidFill>
                          <a:srgbClr val="FF00F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zh-TW" sz="2400">
                          <a:solidFill>
                            <a:srgbClr val="FF00FF"/>
                          </a:solidFill>
                        </a:rPr>
                        <a:t>黏稠成團、中心發硬</a:t>
                      </a:r>
                      <a:r>
                        <a:rPr lang="zh-TW" sz="2400">
                          <a:solidFill>
                            <a:srgbClr val="FF00FF"/>
                          </a:solidFill>
                        </a:rPr>
                        <a:t>（煮過頭變黏糊，或沒煮透帶硬心）</a:t>
                      </a:r>
                      <a:endParaRPr sz="2400">
                        <a:solidFill>
                          <a:srgbClr val="FF00F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1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zh-TW" sz="2400">
                          <a:solidFill>
                            <a:srgbClr val="0000FF"/>
                          </a:solidFill>
                        </a:rPr>
                        <a:t>尾韻感受</a:t>
                      </a:r>
                      <a:endParaRPr b="1" sz="2400">
                        <a:solidFill>
                          <a:srgbClr val="0000F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zh-TW" sz="2400">
                          <a:solidFill>
                            <a:srgbClr val="0000FF"/>
                          </a:solidFill>
                        </a:rPr>
                        <a:t>生津解暑、清爽甘甜</a:t>
                      </a:r>
                      <a:r>
                        <a:rPr lang="zh-TW" sz="2400">
                          <a:solidFill>
                            <a:srgbClr val="0000FF"/>
                          </a:solidFill>
                        </a:rPr>
                        <a:t>（吃完口腔清爽，甚至帶點微微的涼意）</a:t>
                      </a:r>
                      <a:endParaRPr sz="2400">
                        <a:solidFill>
                          <a:srgbClr val="0000F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zh-TW" sz="2400">
                          <a:solidFill>
                            <a:srgbClr val="0000FF"/>
                          </a:solidFill>
                        </a:rPr>
                        <a:t>黏膩糊口、喉嚨發癢</a:t>
                      </a:r>
                      <a:r>
                        <a:rPr lang="zh-TW" sz="2400">
                          <a:solidFill>
                            <a:srgbClr val="0000FF"/>
                          </a:solidFill>
                        </a:rPr>
                        <a:t>（糖分或鮮奶油加太多，吃完極度口渴）</a:t>
                      </a:r>
                      <a:endParaRPr sz="2400">
                        <a:solidFill>
                          <a:srgbClr val="0000FF"/>
                        </a:solidFill>
                      </a:endParaRPr>
                    </a:p>
                  </a:txBody>
                  <a:tcPr marT="76200" marB="76200" marR="114300" marL="114300">
                    <a:lnL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0" name="Google Shape;240;g3e8fce14f93_0_9"/>
          <p:cNvGraphicFramePr/>
          <p:nvPr/>
        </p:nvGraphicFramePr>
        <p:xfrm>
          <a:off x="3826438" y="1509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{37D849BA-16C2-402E-B40B-EE97CC213423}</a:tableStyleId>
              </a:tblPr>
              <a:tblGrid>
                <a:gridCol w="958525"/>
                <a:gridCol w="3580600"/>
              </a:tblGrid>
              <a:tr h="102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3900"/>
                        <a:t>5</a:t>
                      </a:r>
                      <a:endParaRPr sz="3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3900">
                          <a:solidFill>
                            <a:srgbClr val="FF00FF"/>
                          </a:solidFill>
                        </a:rPr>
                        <a:t>葡萄柚/芒果丁</a:t>
                      </a:r>
                      <a:endParaRPr sz="3900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2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3900"/>
                        <a:t>4</a:t>
                      </a:r>
                      <a:endParaRPr sz="3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3900">
                          <a:solidFill>
                            <a:srgbClr val="FF00FF"/>
                          </a:solidFill>
                        </a:rPr>
                        <a:t>芒果牛奶</a:t>
                      </a:r>
                      <a:endParaRPr sz="3900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2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3900"/>
                        <a:t>3</a:t>
                      </a:r>
                      <a:endParaRPr sz="3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3900">
                          <a:solidFill>
                            <a:srgbClr val="FF00FF"/>
                          </a:solidFill>
                        </a:rPr>
                        <a:t>椰奶</a:t>
                      </a:r>
                      <a:endParaRPr sz="3900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2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3900"/>
                        <a:t>2</a:t>
                      </a:r>
                      <a:endParaRPr sz="3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3900">
                          <a:solidFill>
                            <a:srgbClr val="FF00FF"/>
                          </a:solidFill>
                        </a:rPr>
                        <a:t>芒果丁</a:t>
                      </a:r>
                      <a:endParaRPr sz="3900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20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3900"/>
                        <a:t>1</a:t>
                      </a:r>
                      <a:endParaRPr sz="3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3900">
                          <a:solidFill>
                            <a:srgbClr val="FF00FF"/>
                          </a:solidFill>
                        </a:rPr>
                        <a:t>西米露</a:t>
                      </a:r>
                      <a:endParaRPr sz="3900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1" name="Google Shape;241;g3e8fce14f93_0_9"/>
          <p:cNvSpPr txBox="1"/>
          <p:nvPr/>
        </p:nvSpPr>
        <p:spPr>
          <a:xfrm>
            <a:off x="3826513" y="238350"/>
            <a:ext cx="4539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3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層次堆疊</a:t>
            </a:r>
            <a:endParaRPr sz="43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柏林">
  <a:themeElements>
    <a:clrScheme name="Berlin">
      <a:dk1>
        <a:srgbClr val="000000"/>
      </a:dk1>
      <a:lt1>
        <a:srgbClr val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2019-11-12T06:41:14Z</dcterms:created>
  <dc:creator>admin</dc:creator>
</cp:coreProperties>
</file>