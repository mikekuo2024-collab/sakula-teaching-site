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Arim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g/mY1YaaBKVu+VJqNu1UwOrOoc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16FAA6-0E16-4CD3-A55C-0483538346D2}">
  <a:tblStyle styleId="{B316FAA6-0E16-4CD3-A55C-0483538346D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6E1D67A-045C-4B2B-9702-64F1054DD5D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587615A-8A6F-4010-A647-67F7C2BA1145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A0A0A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A0A0A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A0A0A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A0A0A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A0A0A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A0A0A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Arim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m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mo-boldItalic.fntdata"/><Relationship Id="rId30" Type="http://schemas.openxmlformats.org/officeDocument/2006/relationships/font" Target="fonts/Arim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501996e58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9501996e5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906371ab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9906371a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906371abd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9906371ab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906371abd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9906371ab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501996e58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9501996e5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1c175045b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1c175045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9501996e58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9501996e5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501996e58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9501996e5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d571dece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9d571dec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1c175045b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1c175045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1c175045b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1c175045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1c175045b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1c175045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1c175045b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1c175045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1" name="Google Shape;31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" name="Google Shape;1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" name="Google Shape;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20" name="Google Shape;20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4" name="Google Shape;2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5" name="Google Shape;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2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2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2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4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4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2" name="Google Shape;4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3" name="Google Shape;4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5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5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5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2" name="Google Shape;5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3" name="Google Shape;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63" name="Google Shape;6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64" name="Google Shape;6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7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27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1" name="Google Shape;71;p27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76" name="Google Shape;7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77" name="Google Shape;7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5" name="Google Shape;8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6" name="Google Shape;8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9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2" name="Google Shape;92;p2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6" name="Google Shape;9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7" name="Google Shape;9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0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0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392"/>
              </a:srgbClr>
            </a:outerShdw>
          </a:effectLst>
        </p:spPr>
      </p:sp>
      <p:sp>
        <p:nvSpPr>
          <p:cNvPr id="102" name="Google Shape;102;p30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3" name="Google Shape;103;p3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全景圖片 (含標題)">
  <p:cSld name="全景圖片 (含標題)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7" name="Google Shape;107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8" name="Google Shape;10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1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1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1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392"/>
              </a:srgbClr>
            </a:outerShdw>
          </a:effectLst>
        </p:spPr>
      </p:sp>
      <p:sp>
        <p:nvSpPr>
          <p:cNvPr id="113" name="Google Shape;113;p31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4" name="Google Shape;114;p3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1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說明文字">
  <p:cSld name="標題與說明文字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8" name="Google Shape;11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19" name="Google Shape;11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2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2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2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2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4" name="Google Shape;124;p3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2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引述 (含標題)">
  <p:cSld name="引述 (含標題)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8" name="Google Shape;128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9" name="Google Shape;12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3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4" name="Google Shape;134;p33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5" name="Google Shape;135;p3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3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8" name="Google Shape;138;p33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zh-TW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3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zh-TW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名片">
  <p:cSld name="名片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1" name="Google Shape;14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2" name="Google Shape;1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4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4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7" name="Google Shape;147;p3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4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欄">
  <p:cSld name="3 欄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51" name="Google Shape;1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52" name="Google Shape;1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5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5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7" name="Google Shape;157;p35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8" name="Google Shape;158;p35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9" name="Google Shape;159;p35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35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1" name="Google Shape;161;p35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2" name="Google Shape;162;p3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圖片欄">
  <p:cSld name="3 圖片欄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6" name="Google Shape;16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7" name="Google Shape;16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6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6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36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73" name="Google Shape;173;p36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4" name="Google Shape;174;p36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36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76" name="Google Shape;176;p36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7" name="Google Shape;177;p36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8" name="Google Shape;178;p36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79" name="Google Shape;179;p36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0" name="Google Shape;180;p3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4" name="Google Shape;184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5" name="Google Shape;18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7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3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6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6" name="Google Shape;6;p20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0" y="32127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0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.com/watch?v=v3KM7_eY2H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youtube.com/watch?v=KzVluCOXX1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RoYUU6t-hG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youtube.com/watch?v=W3oXP08ZxLQ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youtube.com/watch?v=4Z7nM4ILXB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youtube.com/watch?v=3afxaYiboms" TargetMode="External"/><Relationship Id="rId4" Type="http://schemas.openxmlformats.org/officeDocument/2006/relationships/hyperlink" Target="https://www.youtube.com/watch?v=3afxaYiboms" TargetMode="External"/><Relationship Id="rId5" Type="http://schemas.openxmlformats.org/officeDocument/2006/relationships/hyperlink" Target="https://www.youtube.com/watch?v=3afxaYiboms" TargetMode="External"/><Relationship Id="rId6" Type="http://schemas.openxmlformats.org/officeDocument/2006/relationships/hyperlink" Target="https://www.youtube.com/watch?v=3afxaYibom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Relationship Id="rId4" Type="http://schemas.openxmlformats.org/officeDocument/2006/relationships/hyperlink" Target="https://www.commonhealth.com.tw/ppt/powerpoint.action?nid=188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t/>
            </a:r>
            <a:endParaRPr/>
          </a:p>
        </p:txBody>
      </p:sp>
      <p:pic>
        <p:nvPicPr>
          <p:cNvPr id="198" name="Google Shape;198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501996e58_0_29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04" name="Google Shape;204;g39501996e58_0_29"/>
          <p:cNvSpPr txBox="1"/>
          <p:nvPr>
            <p:ph idx="1" type="body"/>
          </p:nvPr>
        </p:nvSpPr>
        <p:spPr>
          <a:xfrm>
            <a:off x="1201600" y="1140275"/>
            <a:ext cx="9613800" cy="42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5300">
                <a:solidFill>
                  <a:srgbClr val="FF00FF"/>
                </a:solidFill>
                <a:latin typeface="Arimo"/>
                <a:ea typeface="Arimo"/>
                <a:cs typeface="Arimo"/>
                <a:sym typeface="Arimo"/>
              </a:rPr>
              <a:t>114-1  &lt;食在有意思&gt;  學習單5  </a:t>
            </a:r>
            <a:endParaRPr sz="5300">
              <a:solidFill>
                <a:srgbClr val="FF00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zh-TW" sz="3000">
                <a:solidFill>
                  <a:schemeClr val="dk1"/>
                </a:solidFill>
                <a:latin typeface="LiHei Pro"/>
                <a:ea typeface="LiHei Pro"/>
                <a:cs typeface="LiHei Pro"/>
                <a:sym typeface="LiHei Pro"/>
              </a:rPr>
              <a:t>主題</a:t>
            </a:r>
            <a:r>
              <a:rPr b="1" lang="zh-TW" sz="4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：</a:t>
            </a:r>
            <a:r>
              <a:rPr b="1" lang="zh-TW" sz="3500">
                <a:solidFill>
                  <a:srgbClr val="FF00FF"/>
                </a:solidFill>
                <a:latin typeface="Arimo"/>
                <a:ea typeface="Arimo"/>
                <a:cs typeface="Arimo"/>
                <a:sym typeface="Arimo"/>
              </a:rPr>
              <a:t>主食1</a:t>
            </a:r>
            <a:endParaRPr b="1" sz="3500">
              <a:solidFill>
                <a:srgbClr val="FF00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380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我的理想炒泡麵</a:t>
            </a:r>
            <a:r>
              <a:rPr lang="zh-TW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＿兼顧營養色香味</a:t>
            </a:r>
            <a:endParaRPr sz="3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My ideal stir-fried instant noodles – nutritious, delicious, and visually appealing.</a:t>
            </a:r>
            <a:endParaRPr sz="3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8000">
              <a:solidFill>
                <a:srgbClr val="FF00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906371abd_0_0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zh-TW" sz="5538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6大類食物</a:t>
            </a:r>
            <a:endParaRPr sz="5538">
              <a:solidFill>
                <a:srgbClr val="FF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9906371abd_0_0"/>
          <p:cNvSpPr txBox="1"/>
          <p:nvPr>
            <p:ph idx="1" type="body"/>
          </p:nvPr>
        </p:nvSpPr>
        <p:spPr>
          <a:xfrm>
            <a:off x="2298424" y="2336875"/>
            <a:ext cx="79956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4650" u="sng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全榖雜糧類</a:t>
            </a:r>
            <a:endParaRPr sz="54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906371abd_0_7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9906371abd_0_7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7" name="Google Shape;217;g39906371abd_0_7"/>
          <p:cNvGraphicFramePr/>
          <p:nvPr/>
        </p:nvGraphicFramePr>
        <p:xfrm>
          <a:off x="6737775" y="273142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{B316FAA6-0E16-4CD3-A55C-0483538346D2}</a:tableStyleId>
              </a:tblPr>
              <a:tblGrid>
                <a:gridCol w="742950"/>
                <a:gridCol w="742950"/>
                <a:gridCol w="742950"/>
                <a:gridCol w="742950"/>
                <a:gridCol w="742950"/>
                <a:gridCol w="742950"/>
                <a:gridCol w="742950"/>
              </a:tblGrid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紅</a:t>
                      </a:r>
                      <a:endParaRPr b="1"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橙</a:t>
                      </a:r>
                      <a:endParaRPr b="1"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黃</a:t>
                      </a:r>
                      <a:endParaRPr b="1"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綠</a:t>
                      </a:r>
                      <a:endParaRPr b="1"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紫</a:t>
                      </a:r>
                      <a:endParaRPr b="1"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黑</a:t>
                      </a:r>
                      <a:endParaRPr b="1"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白</a:t>
                      </a:r>
                      <a:endParaRPr b="1"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紅豆</a:t>
                      </a:r>
                      <a:endParaRPr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地瓜</a:t>
                      </a:r>
                      <a:endParaRPr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玉米</a:t>
                      </a:r>
                      <a:endParaRPr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綠豆</a:t>
                      </a:r>
                      <a:endParaRPr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芋頭</a:t>
                      </a:r>
                      <a:endParaRPr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黑米</a:t>
                      </a:r>
                      <a:endParaRPr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蓮子</a:t>
                      </a:r>
                      <a:endParaRPr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紅藜</a:t>
                      </a:r>
                      <a:endParaRPr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南瓜</a:t>
                      </a:r>
                      <a:endParaRPr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小米</a:t>
                      </a:r>
                      <a:endParaRPr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豌豆仁</a:t>
                      </a:r>
                      <a:endParaRPr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紫薯</a:t>
                      </a:r>
                      <a:endParaRPr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栗子</a:t>
                      </a:r>
                      <a:endParaRPr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15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山藥</a:t>
                      </a:r>
                      <a:endParaRPr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5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" name="Google Shape;218;g39906371abd_0_7"/>
          <p:cNvSpPr txBox="1"/>
          <p:nvPr/>
        </p:nvSpPr>
        <p:spPr>
          <a:xfrm>
            <a:off x="304800" y="304800"/>
            <a:ext cx="6326400" cy="31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zh-TW" sz="2050">
                <a:solidFill>
                  <a:srgbClr val="0000FF"/>
                </a:solidFill>
                <a:highlight>
                  <a:srgbClr val="FFFFFF"/>
                </a:highlight>
              </a:rPr>
              <a:t>全榖雜糧類食物是主要能量來源，稱為主食類。</a:t>
            </a:r>
            <a:endParaRPr sz="205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zh-TW" sz="2050">
                <a:solidFill>
                  <a:srgbClr val="FF00FF"/>
                </a:solidFill>
                <a:highlight>
                  <a:srgbClr val="FFFFFF"/>
                </a:highlight>
              </a:rPr>
              <a:t>白飯，饅頭、吐司、蘿蔔糕、麵包</a:t>
            </a:r>
            <a:r>
              <a:rPr lang="zh-TW" sz="2050">
                <a:solidFill>
                  <a:srgbClr val="0000FF"/>
                </a:solidFill>
                <a:highlight>
                  <a:srgbClr val="FFFFFF"/>
                </a:highlight>
              </a:rPr>
              <a:t>都算是</a:t>
            </a:r>
            <a:endParaRPr sz="205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zh-TW" sz="2050">
                <a:solidFill>
                  <a:srgbClr val="0000FF"/>
                </a:solidFill>
                <a:highlight>
                  <a:srgbClr val="FFFFFF"/>
                </a:highlight>
              </a:rPr>
              <a:t>　　有一些主食類食物，因為常和青菜一起煮，讓人容易誤以為是蔬菜，像是地瓜、山藥、豌豆仁、玉米、綠豆、芋頭等，其實都是主食類。</a:t>
            </a:r>
            <a:endParaRPr sz="205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zh-TW" sz="2050">
                <a:solidFill>
                  <a:srgbClr val="0000FF"/>
                </a:solidFill>
                <a:highlight>
                  <a:srgbClr val="FFFFFF"/>
                </a:highlight>
              </a:rPr>
              <a:t>我們平常吃的全榖雜糧也有，一起來看這些繽紛顏色吧！</a:t>
            </a:r>
            <a:endParaRPr sz="2050">
              <a:solidFill>
                <a:srgbClr val="0000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906371abd_0_24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9906371abd_0_24"/>
          <p:cNvSpPr txBox="1"/>
          <p:nvPr>
            <p:ph idx="1" type="body"/>
          </p:nvPr>
        </p:nvSpPr>
        <p:spPr>
          <a:xfrm>
            <a:off x="863700" y="830425"/>
            <a:ext cx="10692900" cy="416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650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全穀雜糧類食物推薦</a:t>
            </a:r>
            <a:endParaRPr sz="3650">
              <a:solidFill>
                <a:srgbClr val="FF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60375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00FF"/>
              </a:buClr>
              <a:buSzPts val="3650"/>
              <a:buChar char="●"/>
            </a:pPr>
            <a:r>
              <a:rPr lang="zh-TW" sz="3650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米類：糙米、小米、黑米、紫米、薏仁</a:t>
            </a:r>
            <a:endParaRPr sz="3650">
              <a:solidFill>
                <a:srgbClr val="FF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60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3650"/>
              <a:buChar char="●"/>
            </a:pPr>
            <a:r>
              <a:rPr lang="zh-TW" sz="3650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麥類：燕麥、蕎麥、大麥、藜麥</a:t>
            </a:r>
            <a:endParaRPr sz="3650">
              <a:solidFill>
                <a:srgbClr val="FF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60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3650"/>
              <a:buChar char="●"/>
            </a:pPr>
            <a:r>
              <a:rPr lang="zh-TW" sz="3650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根莖類：地瓜、馬鈴薯、芋頭、山藥</a:t>
            </a:r>
            <a:endParaRPr sz="3650">
              <a:solidFill>
                <a:srgbClr val="FF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60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3650"/>
              <a:buChar char="●"/>
            </a:pPr>
            <a:r>
              <a:rPr lang="zh-TW" sz="3650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豆類及果實類：紅豆、綠豆、鷹嘴豆、玉米、菱角、南瓜</a:t>
            </a:r>
            <a:endParaRPr sz="3650">
              <a:solidFill>
                <a:srgbClr val="FF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7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"/>
          <p:cNvSpPr txBox="1"/>
          <p:nvPr>
            <p:ph idx="4294967295" type="ctrTitle"/>
          </p:nvPr>
        </p:nvSpPr>
        <p:spPr>
          <a:xfrm>
            <a:off x="2521050" y="4134650"/>
            <a:ext cx="9093600" cy="137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7200" u="sng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新竹最大米粉廠</a:t>
            </a:r>
            <a:endParaRPr b="1" sz="7200">
              <a:solidFill>
                <a:srgbClr val="FF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6400">
              <a:solidFill>
                <a:srgbClr val="FF00FF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"/>
              <a:buNone/>
            </a:pPr>
            <a:r>
              <a:t/>
            </a:r>
            <a:endParaRPr b="0" i="0" sz="8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501996e58_0_2"/>
          <p:cNvSpPr txBox="1"/>
          <p:nvPr/>
        </p:nvSpPr>
        <p:spPr>
          <a:xfrm>
            <a:off x="0" y="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https://docs.google.com/presentation/d/1wJ2ri45i_Gp0Rz8C8BOVwfIKNRLRfoqc/edit?slide=id.p3#slide=id.p3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9501996e58_0_2"/>
          <p:cNvSpPr txBox="1"/>
          <p:nvPr/>
        </p:nvSpPr>
        <p:spPr>
          <a:xfrm>
            <a:off x="2752975" y="2345725"/>
            <a:ext cx="7721400" cy="3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5600" u="sng">
                <a:solidFill>
                  <a:srgbClr val="FF00FF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百年傳統新竹米粉怎麼做的？</a:t>
            </a:r>
            <a:endParaRPr b="1" sz="56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t/>
            </a:r>
            <a:endParaRPr b="1" sz="6800">
              <a:solidFill>
                <a:srgbClr val="FF00FF"/>
              </a:solidFill>
              <a:highlight>
                <a:srgbClr val="F1F1F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1c175045b_0_7"/>
          <p:cNvSpPr txBox="1"/>
          <p:nvPr/>
        </p:nvSpPr>
        <p:spPr>
          <a:xfrm>
            <a:off x="3046175" y="1808175"/>
            <a:ext cx="6288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5600" u="sng">
                <a:solidFill>
                  <a:srgbClr val="FF00FF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米粉，水粉，炊粉</a:t>
            </a:r>
            <a:endParaRPr b="1" sz="5600">
              <a:solidFill>
                <a:srgbClr val="FF00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501996e58_0_11"/>
          <p:cNvSpPr txBox="1"/>
          <p:nvPr/>
        </p:nvSpPr>
        <p:spPr>
          <a:xfrm>
            <a:off x="2231700" y="2785575"/>
            <a:ext cx="9415500" cy="24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5900" u="sng">
                <a:solidFill>
                  <a:srgbClr val="FF00FF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古早味炒米粉</a:t>
            </a:r>
            <a:endParaRPr b="1" sz="59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rgbClr val="0F0F0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t/>
            </a:r>
            <a:endParaRPr b="1" sz="5400">
              <a:solidFill>
                <a:srgbClr val="FF00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9501996e58_0_17"/>
          <p:cNvSpPr txBox="1"/>
          <p:nvPr/>
        </p:nvSpPr>
        <p:spPr>
          <a:xfrm>
            <a:off x="2671500" y="2182825"/>
            <a:ext cx="6434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6600" u="sng">
                <a:solidFill>
                  <a:srgbClr val="FF00FF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泡</a:t>
            </a:r>
            <a:r>
              <a:rPr b="1" lang="zh-TW" sz="6600" u="sng">
                <a:solidFill>
                  <a:srgbClr val="FF00FF"/>
                </a:solidFill>
                <a:highlight>
                  <a:srgbClr val="FFFFFF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麵製</a:t>
            </a:r>
            <a:r>
              <a:rPr b="1" lang="zh-TW" sz="6600" u="sng">
                <a:solidFill>
                  <a:srgbClr val="FF00FF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作</a:t>
            </a:r>
            <a:r>
              <a:rPr b="1" lang="zh-TW" sz="6600" u="sng">
                <a:solidFill>
                  <a:srgbClr val="FF00FF"/>
                </a:solidFill>
                <a:highlight>
                  <a:srgbClr val="FFFFFF"/>
                </a:highlight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過程</a:t>
            </a:r>
            <a:endParaRPr b="1" sz="6600">
              <a:solidFill>
                <a:srgbClr val="FF00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5" name="Google Shape;255;g39d571dece7_0_0"/>
          <p:cNvGraphicFramePr/>
          <p:nvPr/>
        </p:nvGraphicFramePr>
        <p:xfrm>
          <a:off x="1260125" y="577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{36E1D67A-045C-4B2B-9702-64F1054DD5DF}</a:tableStyleId>
              </a:tblPr>
              <a:tblGrid>
                <a:gridCol w="1467275"/>
                <a:gridCol w="3501450"/>
                <a:gridCol w="1584025"/>
                <a:gridCol w="4239150"/>
              </a:tblGrid>
              <a:tr h="625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/>
                        <a:t>中文</a:t>
                      </a:r>
                      <a:endParaRPr sz="2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/>
                        <a:t>英文</a:t>
                      </a:r>
                      <a:endParaRPr sz="2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/>
                        <a:t>中文</a:t>
                      </a:r>
                      <a:endParaRPr sz="2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/>
                        <a:t>英文</a:t>
                      </a:r>
                      <a:endParaRPr sz="2900"/>
                    </a:p>
                  </a:txBody>
                  <a:tcPr marT="63500" marB="63500" marR="63500" marL="63500"/>
                </a:tc>
              </a:tr>
              <a:tr h="111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/>
                        <a:t>新竹米粉</a:t>
                      </a:r>
                      <a:endParaRPr sz="2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>
                          <a:solidFill>
                            <a:srgbClr val="FF0000"/>
                          </a:solidFill>
                        </a:rPr>
                        <a:t>Hsinchu Rice Noodles</a:t>
                      </a:r>
                      <a:endParaRPr sz="29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/>
                        <a:t>洋蔥</a:t>
                      </a:r>
                      <a:endParaRPr sz="2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>
                          <a:solidFill>
                            <a:srgbClr val="FF0000"/>
                          </a:solidFill>
                        </a:rPr>
                        <a:t>onion</a:t>
                      </a:r>
                      <a:endParaRPr sz="29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/>
                </a:tc>
              </a:tr>
              <a:tr h="111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/>
                        <a:t>炒麵</a:t>
                      </a:r>
                      <a:endParaRPr sz="2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>
                          <a:solidFill>
                            <a:srgbClr val="FF0000"/>
                          </a:solidFill>
                        </a:rPr>
                        <a:t>Stir-fried noodles</a:t>
                      </a:r>
                      <a:endParaRPr sz="29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/>
                        <a:t>紅蘿蔔</a:t>
                      </a:r>
                      <a:endParaRPr sz="2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>
                          <a:solidFill>
                            <a:srgbClr val="FF0000"/>
                          </a:solidFill>
                        </a:rPr>
                        <a:t>carrot</a:t>
                      </a:r>
                      <a:endParaRPr sz="29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/>
                </a:tc>
              </a:tr>
              <a:tr h="111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/>
                        <a:t>炒泡麵</a:t>
                      </a:r>
                      <a:endParaRPr sz="2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>
                          <a:solidFill>
                            <a:srgbClr val="FF0000"/>
                          </a:solidFill>
                        </a:rPr>
                        <a:t>Stir-fried instant noodles</a:t>
                      </a:r>
                      <a:endParaRPr sz="29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/>
                        <a:t>蔥</a:t>
                      </a:r>
                      <a:endParaRPr sz="2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300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</a:rPr>
                        <a:t>scallion</a:t>
                      </a:r>
                      <a:endParaRPr sz="29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/>
                </a:tc>
              </a:tr>
              <a:tr h="111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/>
                        <a:t>蛋炒飯</a:t>
                      </a:r>
                      <a:endParaRPr sz="2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>
                          <a:solidFill>
                            <a:srgbClr val="FF0000"/>
                          </a:solidFill>
                        </a:rPr>
                        <a:t>Egg Fried Rice</a:t>
                      </a:r>
                      <a:endParaRPr sz="29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/>
                        <a:t>蒜</a:t>
                      </a:r>
                      <a:endParaRPr sz="2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>
                          <a:solidFill>
                            <a:srgbClr val="FF0000"/>
                          </a:solidFill>
                        </a:rPr>
                        <a:t>garlic</a:t>
                      </a:r>
                      <a:endParaRPr sz="29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/>
                </a:tc>
              </a:tr>
              <a:tr h="63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9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/>
                        <a:t>香菇</a:t>
                      </a:r>
                      <a:endParaRPr sz="2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900">
                          <a:solidFill>
                            <a:srgbClr val="FF0000"/>
                          </a:solidFill>
                        </a:rPr>
                        <a:t>mushroom</a:t>
                      </a:r>
                      <a:endParaRPr sz="29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0" name="Google Shape;260;g3a1c175045b_0_17"/>
          <p:cNvGraphicFramePr/>
          <p:nvPr/>
        </p:nvGraphicFramePr>
        <p:xfrm>
          <a:off x="918025" y="50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{6587615A-8A6F-4010-A647-67F7C2BA1145}</a:tableStyleId>
              </a:tblPr>
              <a:tblGrid>
                <a:gridCol w="2606700"/>
                <a:gridCol w="2853900"/>
                <a:gridCol w="2853900"/>
                <a:gridCol w="2853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650">
                          <a:solidFill>
                            <a:srgbClr val="0A0A0A"/>
                          </a:solidFill>
                        </a:rPr>
                        <a:t>中文 </a:t>
                      </a:r>
                      <a:endParaRPr sz="2800">
                        <a:solidFill>
                          <a:srgbClr val="0A0A0A"/>
                        </a:solidFill>
                      </a:endParaRPr>
                    </a:p>
                  </a:txBody>
                  <a:tcPr marT="0" marB="114300" marR="101600" marL="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650">
                          <a:solidFill>
                            <a:srgbClr val="0A0A0A"/>
                          </a:solidFill>
                        </a:rPr>
                        <a:t>英文</a:t>
                      </a:r>
                      <a:endParaRPr sz="2800">
                        <a:solidFill>
                          <a:srgbClr val="0A0A0A"/>
                        </a:solidFill>
                      </a:endParaRPr>
                    </a:p>
                  </a:txBody>
                  <a:tcPr marT="0" marB="114300" marR="0" marL="10160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650">
                          <a:solidFill>
                            <a:srgbClr val="0A0A0A"/>
                          </a:solidFill>
                        </a:rPr>
                        <a:t>中文 </a:t>
                      </a:r>
                      <a:endParaRPr sz="2800">
                        <a:solidFill>
                          <a:srgbClr val="0A0A0A"/>
                        </a:solidFill>
                      </a:endParaRPr>
                    </a:p>
                  </a:txBody>
                  <a:tcPr marT="0" marB="114300" marR="101600" marL="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650">
                          <a:solidFill>
                            <a:srgbClr val="0A0A0A"/>
                          </a:solidFill>
                        </a:rPr>
                        <a:t>英文</a:t>
                      </a:r>
                      <a:endParaRPr sz="2800">
                        <a:solidFill>
                          <a:srgbClr val="0A0A0A"/>
                        </a:solidFill>
                      </a:endParaRPr>
                    </a:p>
                  </a:txBody>
                  <a:tcPr marT="0" marB="114300" marR="0" marL="10160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0A0A0A"/>
                          </a:solidFill>
                        </a:rPr>
                        <a:t>水煮</a:t>
                      </a:r>
                      <a:endParaRPr sz="2800">
                        <a:solidFill>
                          <a:srgbClr val="0A0A0A"/>
                        </a:solidFill>
                      </a:endParaRPr>
                    </a:p>
                  </a:txBody>
                  <a:tcPr marT="114300" marB="114300" marR="101600" marL="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FF00FF"/>
                          </a:solidFill>
                        </a:rPr>
                        <a:t>boil</a:t>
                      </a:r>
                      <a:endParaRPr sz="2800">
                        <a:solidFill>
                          <a:srgbClr val="FF00FF"/>
                        </a:solidFill>
                      </a:endParaRPr>
                    </a:p>
                  </a:txBody>
                  <a:tcPr marT="114300" marB="114300" marR="0" marL="10160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0A0A0A"/>
                          </a:solidFill>
                        </a:rPr>
                        <a:t>湯煮 (慢火)</a:t>
                      </a:r>
                      <a:endParaRPr sz="2800">
                        <a:solidFill>
                          <a:srgbClr val="0A0A0A"/>
                        </a:solidFill>
                      </a:endParaRPr>
                    </a:p>
                  </a:txBody>
                  <a:tcPr marT="114300" marB="114300" marR="101600" marL="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FF00FF"/>
                          </a:solidFill>
                        </a:rPr>
                        <a:t>simmer</a:t>
                      </a:r>
                      <a:endParaRPr sz="2800">
                        <a:solidFill>
                          <a:srgbClr val="FF00FF"/>
                        </a:solidFill>
                      </a:endParaRPr>
                    </a:p>
                  </a:txBody>
                  <a:tcPr marT="114300" marB="114300" marR="0" marL="10160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0A0A0A"/>
                          </a:solidFill>
                        </a:rPr>
                        <a:t>蒸</a:t>
                      </a:r>
                      <a:endParaRPr sz="2800">
                        <a:solidFill>
                          <a:srgbClr val="0A0A0A"/>
                        </a:solidFill>
                      </a:endParaRPr>
                    </a:p>
                  </a:txBody>
                  <a:tcPr marT="114300" marB="114300" marR="101600" marL="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FF00FF"/>
                          </a:solidFill>
                        </a:rPr>
                        <a:t>steam</a:t>
                      </a:r>
                      <a:endParaRPr sz="2800">
                        <a:solidFill>
                          <a:srgbClr val="FF00FF"/>
                        </a:solidFill>
                      </a:endParaRPr>
                    </a:p>
                  </a:txBody>
                  <a:tcPr marT="114300" marB="114300" marR="0" marL="10160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0A0A0A"/>
                          </a:solidFill>
                        </a:rPr>
                        <a:t>煨煮 (少量湯汁)</a:t>
                      </a:r>
                      <a:endParaRPr sz="2800">
                        <a:solidFill>
                          <a:srgbClr val="0A0A0A"/>
                        </a:solidFill>
                      </a:endParaRPr>
                    </a:p>
                  </a:txBody>
                  <a:tcPr marT="114300" marB="114300" marR="101600" marL="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FF00FF"/>
                          </a:solidFill>
                        </a:rPr>
                        <a:t>braise</a:t>
                      </a:r>
                      <a:endParaRPr sz="2800">
                        <a:solidFill>
                          <a:srgbClr val="FF00FF"/>
                        </a:solidFill>
                      </a:endParaRPr>
                    </a:p>
                  </a:txBody>
                  <a:tcPr marT="114300" marB="114300" marR="0" marL="10160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0A0A0A"/>
                          </a:solidFill>
                        </a:rPr>
                        <a:t>快炒</a:t>
                      </a:r>
                      <a:endParaRPr sz="2800">
                        <a:solidFill>
                          <a:srgbClr val="0A0A0A"/>
                        </a:solidFill>
                      </a:endParaRPr>
                    </a:p>
                  </a:txBody>
                  <a:tcPr marT="114300" marB="114300" marR="101600" marL="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FF00FF"/>
                          </a:solidFill>
                        </a:rPr>
                        <a:t>stir-fry</a:t>
                      </a:r>
                      <a:endParaRPr sz="2800">
                        <a:solidFill>
                          <a:srgbClr val="FF00FF"/>
                        </a:solidFill>
                      </a:endParaRPr>
                    </a:p>
                  </a:txBody>
                  <a:tcPr marT="114300" marB="114300" marR="0" marL="10160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0A0A0A"/>
                          </a:solidFill>
                        </a:rPr>
                        <a:t>燙</a:t>
                      </a:r>
                      <a:endParaRPr sz="2800">
                        <a:solidFill>
                          <a:srgbClr val="0A0A0A"/>
                        </a:solidFill>
                      </a:endParaRPr>
                    </a:p>
                  </a:txBody>
                  <a:tcPr marT="114300" marB="114300" marR="101600" marL="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FF00FF"/>
                          </a:solidFill>
                        </a:rPr>
                        <a:t>blanch</a:t>
                      </a:r>
                      <a:endParaRPr sz="2800">
                        <a:solidFill>
                          <a:srgbClr val="FF00FF"/>
                        </a:solidFill>
                      </a:endParaRPr>
                    </a:p>
                  </a:txBody>
                  <a:tcPr marT="114300" marB="114300" marR="0" marL="10160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0A0A0A"/>
                          </a:solidFill>
                        </a:rPr>
                        <a:t>煎</a:t>
                      </a:r>
                      <a:endParaRPr sz="2800">
                        <a:solidFill>
                          <a:srgbClr val="0A0A0A"/>
                        </a:solidFill>
                      </a:endParaRPr>
                    </a:p>
                  </a:txBody>
                  <a:tcPr marT="114300" marB="114300" marR="101600" marL="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FF00FF"/>
                          </a:solidFill>
                        </a:rPr>
                        <a:t>pan-fry / fry</a:t>
                      </a:r>
                      <a:endParaRPr sz="2800">
                        <a:solidFill>
                          <a:srgbClr val="FF00FF"/>
                        </a:solidFill>
                      </a:endParaRPr>
                    </a:p>
                  </a:txBody>
                  <a:tcPr marT="114300" marB="114300" marR="0" marL="10160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0A0A0A"/>
                          </a:solidFill>
                        </a:rPr>
                        <a:t>微波</a:t>
                      </a:r>
                      <a:endParaRPr sz="2800">
                        <a:solidFill>
                          <a:srgbClr val="0A0A0A"/>
                        </a:solidFill>
                      </a:endParaRPr>
                    </a:p>
                  </a:txBody>
                  <a:tcPr marT="114300" marB="114300" marR="101600" marL="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FF00FF"/>
                          </a:solidFill>
                        </a:rPr>
                        <a:t>microwave </a:t>
                      </a:r>
                      <a:endParaRPr sz="2800">
                        <a:solidFill>
                          <a:srgbClr val="FF00FF"/>
                        </a:solidFill>
                      </a:endParaRPr>
                    </a:p>
                  </a:txBody>
                  <a:tcPr marT="114300" marB="114300" marR="0" marL="10160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0A0A0A"/>
                          </a:solidFill>
                        </a:rPr>
                        <a:t>油炸</a:t>
                      </a:r>
                      <a:endParaRPr sz="2800">
                        <a:solidFill>
                          <a:srgbClr val="0A0A0A"/>
                        </a:solidFill>
                      </a:endParaRPr>
                    </a:p>
                  </a:txBody>
                  <a:tcPr marT="114300" marB="114300" marR="101600" marL="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FF00FF"/>
                          </a:solidFill>
                        </a:rPr>
                        <a:t>deep-fry</a:t>
                      </a:r>
                      <a:endParaRPr sz="2800">
                        <a:solidFill>
                          <a:srgbClr val="FF00FF"/>
                        </a:solidFill>
                      </a:endParaRPr>
                    </a:p>
                  </a:txBody>
                  <a:tcPr marT="114300" marB="114300" marR="0" marL="10160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0A0A0A"/>
                          </a:solidFill>
                        </a:rPr>
                        <a:t>烘焙</a:t>
                      </a:r>
                      <a:endParaRPr sz="2800">
                        <a:solidFill>
                          <a:srgbClr val="0A0A0A"/>
                        </a:solidFill>
                      </a:endParaRPr>
                    </a:p>
                  </a:txBody>
                  <a:tcPr marT="114300" marB="114300" marR="101600" marL="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FF00FF"/>
                          </a:solidFill>
                        </a:rPr>
                        <a:t>bake</a:t>
                      </a:r>
                      <a:endParaRPr sz="2800">
                        <a:solidFill>
                          <a:srgbClr val="FF00FF"/>
                        </a:solidFill>
                      </a:endParaRPr>
                    </a:p>
                  </a:txBody>
                  <a:tcPr marT="114300" marB="114300" marR="0" marL="10160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0A0A0A"/>
                          </a:solidFill>
                        </a:rPr>
                        <a:t>燉煮</a:t>
                      </a:r>
                      <a:endParaRPr sz="2800">
                        <a:solidFill>
                          <a:srgbClr val="0A0A0A"/>
                        </a:solidFill>
                      </a:endParaRPr>
                    </a:p>
                  </a:txBody>
                  <a:tcPr marT="114300" marB="114300" marR="101600" marL="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3C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FF00FF"/>
                          </a:solidFill>
                        </a:rPr>
                        <a:t>stew</a:t>
                      </a:r>
                      <a:endParaRPr sz="2800">
                        <a:solidFill>
                          <a:srgbClr val="FF00FF"/>
                        </a:solidFill>
                      </a:endParaRPr>
                    </a:p>
                  </a:txBody>
                  <a:tcPr marT="114300" marB="114300" marR="0" marL="10160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3C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0A0A0A"/>
                          </a:solidFill>
                        </a:rPr>
                        <a:t>烤</a:t>
                      </a:r>
                      <a:endParaRPr sz="2800">
                        <a:solidFill>
                          <a:srgbClr val="0A0A0A"/>
                        </a:solidFill>
                      </a:endParaRPr>
                    </a:p>
                  </a:txBody>
                  <a:tcPr marT="114300" marB="114300" marR="101600" marL="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3C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650">
                          <a:solidFill>
                            <a:srgbClr val="FF00FF"/>
                          </a:solidFill>
                        </a:rPr>
                        <a:t>roast / grill / broil</a:t>
                      </a:r>
                      <a:endParaRPr sz="2800">
                        <a:solidFill>
                          <a:srgbClr val="FF00FF"/>
                        </a:solidFill>
                      </a:endParaRPr>
                    </a:p>
                  </a:txBody>
                  <a:tcPr marT="114300" marB="114300" marR="0" marL="101600">
                    <a:lnL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A0A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3C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1" name="Google Shape;261;g3a1c175045b_0_17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zh-TW" sz="1200">
                <a:solidFill>
                  <a:srgbClr val="0A0A0A"/>
                </a:solidFill>
              </a:rPr>
              <a:t>烹調方法」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1c175045b_0_24"/>
          <p:cNvSpPr txBox="1"/>
          <p:nvPr/>
        </p:nvSpPr>
        <p:spPr>
          <a:xfrm>
            <a:off x="125850" y="879650"/>
            <a:ext cx="11940300" cy="5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4000">
                <a:solidFill>
                  <a:srgbClr val="FF00FF"/>
                </a:solidFill>
              </a:rPr>
              <a:t>炒米粉的原則</a:t>
            </a:r>
            <a:r>
              <a:rPr lang="zh-TW" sz="3500">
                <a:solidFill>
                  <a:schemeClr val="dk1"/>
                </a:solidFill>
              </a:rPr>
              <a:t>是</a:t>
            </a:r>
            <a:endParaRPr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500">
                <a:solidFill>
                  <a:schemeClr val="dk1"/>
                </a:solidFill>
              </a:rPr>
              <a:t>「</a:t>
            </a:r>
            <a:r>
              <a:rPr b="1" lang="zh-TW" sz="3600">
                <a:solidFill>
                  <a:srgbClr val="001D35"/>
                </a:solidFill>
              </a:rPr>
              <a:t>先炒配料，再下米粉</a:t>
            </a:r>
            <a:r>
              <a:rPr lang="zh-TW" sz="3600">
                <a:solidFill>
                  <a:srgbClr val="0A0A0A"/>
                </a:solidFill>
                <a:highlight>
                  <a:srgbClr val="FFFFFF"/>
                </a:highlight>
              </a:rPr>
              <a:t>」，</a:t>
            </a:r>
            <a:endParaRPr sz="36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0A0A0A"/>
                </a:solidFill>
                <a:highlight>
                  <a:srgbClr val="FFFFFF"/>
                </a:highlight>
              </a:rPr>
              <a:t>並使用「少量多次」的方式加高湯，</a:t>
            </a:r>
            <a:endParaRPr sz="36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0A0A0A"/>
                </a:solidFill>
                <a:highlight>
                  <a:srgbClr val="FFFFFF"/>
                </a:highlight>
              </a:rPr>
              <a:t>最後透過「上蓋燜煮」讓米粉吸收湯汁入味，如此可避免米粉糊爛並保持Q彈口感。</a:t>
            </a:r>
            <a:endParaRPr sz="36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0A0A0A"/>
                </a:solidFill>
                <a:highlight>
                  <a:srgbClr val="FFFFFF"/>
                </a:highlight>
              </a:rPr>
              <a:t>此外，掌握「菜：米粉：肉=4:2:1」的黃金比例有助於風味平衡。 </a:t>
            </a:r>
            <a:endParaRPr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t/>
            </a:r>
            <a:endParaRPr sz="3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1c175045b_0_29"/>
          <p:cNvSpPr txBox="1"/>
          <p:nvPr/>
        </p:nvSpPr>
        <p:spPr>
          <a:xfrm>
            <a:off x="586425" y="700450"/>
            <a:ext cx="11288700" cy="57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4100">
                <a:solidFill>
                  <a:srgbClr val="FF00FF"/>
                </a:solidFill>
              </a:rPr>
              <a:t>炒泡麵的原則是</a:t>
            </a:r>
            <a:r>
              <a:rPr lang="zh-TW" sz="3600">
                <a:solidFill>
                  <a:srgbClr val="0A0A0A"/>
                </a:solidFill>
              </a:rPr>
              <a:t>：</a:t>
            </a:r>
            <a:endParaRPr sz="3600">
              <a:solidFill>
                <a:srgbClr val="0A0A0A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zh-TW" sz="3600">
                <a:solidFill>
                  <a:srgbClr val="001D35"/>
                </a:solidFill>
              </a:rPr>
              <a:t>先燙或泡麵體至七分熟，避免過度軟爛；</a:t>
            </a:r>
            <a:endParaRPr b="1" sz="3600">
              <a:solidFill>
                <a:srgbClr val="001D3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zh-TW" sz="3600">
                <a:solidFill>
                  <a:srgbClr val="001D35"/>
                </a:solidFill>
              </a:rPr>
              <a:t>同時炒香其他食材，如肉類、蔬菜和蛋，</a:t>
            </a:r>
            <a:endParaRPr b="1" sz="3600">
              <a:solidFill>
                <a:srgbClr val="001D3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zh-TW" sz="3600">
                <a:solidFill>
                  <a:srgbClr val="001D35"/>
                </a:solidFill>
              </a:rPr>
              <a:t>再加入調味粉和適量的湯汁收乾，</a:t>
            </a:r>
            <a:endParaRPr b="1" sz="3600">
              <a:solidFill>
                <a:srgbClr val="001D3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b="1" lang="zh-TW" sz="3600">
                <a:solidFill>
                  <a:srgbClr val="001D35"/>
                </a:solidFill>
              </a:rPr>
              <a:t>將麵體與配料拌炒均勻，最後再依個人喜好添加蔥花等配料即可</a:t>
            </a:r>
            <a:r>
              <a:rPr lang="zh-TW" sz="3600">
                <a:solidFill>
                  <a:srgbClr val="0A0A0A"/>
                </a:solidFill>
              </a:rPr>
              <a:t>。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1c175045b_0_34"/>
          <p:cNvSpPr txBox="1"/>
          <p:nvPr/>
        </p:nvSpPr>
        <p:spPr>
          <a:xfrm>
            <a:off x="0" y="0"/>
            <a:ext cx="10946700" cy="6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zh-TW" sz="2600">
                <a:solidFill>
                  <a:srgbClr val="FF00FF"/>
                </a:solidFill>
              </a:rPr>
              <a:t>麵體處理</a:t>
            </a:r>
            <a:endParaRPr b="1" sz="2600">
              <a:solidFill>
                <a:srgbClr val="FF00FF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A0A0A"/>
              </a:buClr>
              <a:buSzPts val="1700"/>
              <a:buChar char="●"/>
            </a:pPr>
            <a:r>
              <a:rPr lang="zh-TW" sz="1700">
                <a:solidFill>
                  <a:srgbClr val="0A0A0A"/>
                </a:solidFill>
              </a:rPr>
              <a:t>避免軟爛：將泡麵先用熱水燙煮至能撥開的狀態（約七分熟），撈起備用，後續再與醬料拌炒，這樣麵條才不會糊掉。</a:t>
            </a:r>
            <a:endParaRPr sz="1700">
              <a:solidFill>
                <a:srgbClr val="0A0A0A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Char char="●"/>
            </a:pPr>
            <a:r>
              <a:rPr lang="zh-TW" sz="1700">
                <a:solidFill>
                  <a:srgbClr val="0A0A0A"/>
                </a:solidFill>
              </a:rPr>
              <a:t>提前處理：部分做法會先將麵體泡軟（約 2-3 分鐘），再瀝乾備用。 </a:t>
            </a:r>
            <a:endParaRPr sz="1700">
              <a:solidFill>
                <a:srgbClr val="0A0A0A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FF00FF"/>
                </a:solidFill>
              </a:rPr>
              <a:t>食材炒製</a:t>
            </a:r>
            <a:endParaRPr b="1" sz="2500">
              <a:solidFill>
                <a:srgbClr val="FF00FF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A0A0A"/>
              </a:buClr>
              <a:buSzPts val="1700"/>
              <a:buChar char="●"/>
            </a:pPr>
            <a:r>
              <a:rPr lang="zh-TW" sz="1700">
                <a:solidFill>
                  <a:srgbClr val="0A0A0A"/>
                </a:solidFill>
              </a:rPr>
              <a:t>依序下鍋：先炒香肉類（如肉絲、培根），再加入香菇、蔥白等爆香的食材。</a:t>
            </a:r>
            <a:endParaRPr sz="1700">
              <a:solidFill>
                <a:srgbClr val="0A0A0A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Char char="●"/>
            </a:pPr>
            <a:r>
              <a:rPr lang="zh-TW" sz="1700">
                <a:solidFill>
                  <a:srgbClr val="0A0A0A"/>
                </a:solidFill>
              </a:rPr>
              <a:t>加入蔬菜：接著加入高麗菜、紅蘿蔔等蔬菜，炒至半熟。</a:t>
            </a:r>
            <a:endParaRPr sz="1700">
              <a:solidFill>
                <a:srgbClr val="0A0A0A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Char char="●"/>
            </a:pPr>
            <a:r>
              <a:rPr lang="zh-TW" sz="1700">
                <a:solidFill>
                  <a:srgbClr val="0A0A0A"/>
                </a:solidFill>
              </a:rPr>
              <a:t>炒蛋：可先將蛋炒成散蛋備用，最後再加入拌炒。</a:t>
            </a:r>
            <a:endParaRPr sz="1700">
              <a:solidFill>
                <a:srgbClr val="0A0A0A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Char char="●"/>
            </a:pPr>
            <a:r>
              <a:rPr lang="zh-TW" sz="1700">
                <a:solidFill>
                  <a:srgbClr val="0A0A0A"/>
                </a:solidFill>
              </a:rPr>
              <a:t>避免油膩：若要追求少油健康，可先乾煎肉片逼油，倒掉多餘的油。 </a:t>
            </a:r>
            <a:endParaRPr sz="1700">
              <a:solidFill>
                <a:srgbClr val="0A0A0A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zh-TW" sz="2600">
                <a:solidFill>
                  <a:srgbClr val="FF00FF"/>
                </a:solidFill>
              </a:rPr>
              <a:t>醬料與收汁</a:t>
            </a:r>
            <a:endParaRPr sz="2600">
              <a:solidFill>
                <a:srgbClr val="FF00FF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A0A0A"/>
              </a:buClr>
              <a:buSzPts val="1700"/>
              <a:buChar char="●"/>
            </a:pPr>
            <a:r>
              <a:rPr lang="zh-TW" sz="1700">
                <a:solidFill>
                  <a:srgbClr val="0A0A0A"/>
                </a:solidFill>
              </a:rPr>
              <a:t>醬汁調整：將調味包和少許麵湯（約 1-2 大匙）倒入鍋中，煮至醬汁沸騰。</a:t>
            </a:r>
            <a:endParaRPr sz="1700">
              <a:solidFill>
                <a:srgbClr val="0A0A0A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Char char="●"/>
            </a:pPr>
            <a:r>
              <a:rPr lang="zh-TW" sz="1700">
                <a:solidFill>
                  <a:srgbClr val="0A0A0A"/>
                </a:solidFill>
              </a:rPr>
              <a:t>試鹹度：先試一下味道，再根據個人喜好調整醬油或鹽巴等調味料。</a:t>
            </a:r>
            <a:endParaRPr sz="1700">
              <a:solidFill>
                <a:srgbClr val="0A0A0A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Char char="●"/>
            </a:pPr>
            <a:r>
              <a:rPr lang="zh-TW" sz="1700">
                <a:solidFill>
                  <a:srgbClr val="0A0A0A"/>
                </a:solidFill>
              </a:rPr>
              <a:t>收汁：將泡麵加入鍋中，用中小火拌炒，讓麵體吸收醬汁，同時讓湯汁收至鍋底剩下一點點即可。</a:t>
            </a:r>
            <a:endParaRPr sz="1700">
              <a:solidFill>
                <a:srgbClr val="0A0A0A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Char char="●"/>
            </a:pPr>
            <a:r>
              <a:rPr lang="zh-TW" sz="1700">
                <a:solidFill>
                  <a:srgbClr val="0A0A0A"/>
                </a:solidFill>
              </a:rPr>
              <a:t>風味提升：可依個人喜好加入沙茶醬、蠔油或辣椒醬等增加風味。 </a:t>
            </a:r>
            <a:endParaRPr sz="1700">
              <a:solidFill>
                <a:srgbClr val="0A0A0A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916" y="0"/>
            <a:ext cx="11213993" cy="7930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 txBox="1"/>
          <p:nvPr>
            <p:ph type="title"/>
          </p:nvPr>
        </p:nvSpPr>
        <p:spPr>
          <a:xfrm>
            <a:off x="680321" y="339046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DFKai-SB"/>
              <a:buNone/>
            </a:pPr>
            <a:r>
              <a:rPr lang="zh-TW" sz="6600">
                <a:latin typeface="DFKai-SB"/>
                <a:ea typeface="DFKai-SB"/>
                <a:cs typeface="DFKai-SB"/>
                <a:sym typeface="DFKai-SB"/>
              </a:rPr>
              <a:t>外食餐盤大改造</a:t>
            </a:r>
            <a:endParaRPr/>
          </a:p>
        </p:txBody>
      </p:sp>
      <p:pic>
        <p:nvPicPr>
          <p:cNvPr id="287" name="Google Shape;287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6478" y="1331501"/>
            <a:ext cx="8774432" cy="658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3">
            <a:hlinkClick r:id="rId4"/>
          </p:cNvPr>
          <p:cNvSpPr txBox="1"/>
          <p:nvPr/>
        </p:nvSpPr>
        <p:spPr>
          <a:xfrm>
            <a:off x="8263998" y="339046"/>
            <a:ext cx="2219498" cy="11079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zh-TW" sz="6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Go！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1048" y="-291241"/>
            <a:ext cx="7715591" cy="7149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200" y="159975"/>
            <a:ext cx="10926601" cy="76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571" y="-551793"/>
            <a:ext cx="10414397" cy="7409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965" y="-63870"/>
            <a:ext cx="11587655" cy="719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2317" y="-275194"/>
            <a:ext cx="8672775" cy="7133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柏林">
  <a:themeElements>
    <a:clrScheme name="Berlin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2019-11-12T06:41:14Z</dcterms:created>
  <dc:creator>admin</dc:creator>
</cp:coreProperties>
</file>