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jXfD4838OjEepaWDQ2wPBFXeLt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87a3c7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87a3c7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87a3c774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87a3c774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887a3c774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887a3c774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87a3c774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887a3c774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87a3c774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887a3c774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87a3c774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887a3c774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87a3c774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887a3c774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87a3c774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887a3c774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uide.michelin.com/tw/zh_TW/article/dining-out/inspectors-favorite-dishes-newly-listed-bib-gourmands-miichelin-guide-taiwan-hsinchu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sakula@x365.tmsh.tc.edu.tw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shs.edu.tw/index.php?p=search" TargetMode="External"/><Relationship Id="rId4" Type="http://schemas.openxmlformats.org/officeDocument/2006/relationships/hyperlink" Target="https://www.shs.edu.tw/works/essay/2017/03/2017030114112453.pdf" TargetMode="External"/><Relationship Id="rId5" Type="http://schemas.openxmlformats.org/officeDocument/2006/relationships/hyperlink" Target="https://www.shs.edu.tw/works/essay/2017/03/2017032421120360.pdf" TargetMode="External"/><Relationship Id="rId6" Type="http://schemas.openxmlformats.org/officeDocument/2006/relationships/hyperlink" Target="https://www.shs.edu.tw/works/essay/2017/03/2017031709001991.pdf" TargetMode="External"/><Relationship Id="rId7" Type="http://schemas.openxmlformats.org/officeDocument/2006/relationships/hyperlink" Target="https://www.shs.edu.tw/works/essay/2017/03/2017033108285193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/>
          <p:nvPr>
            <p:ph type="ctrTitle"/>
          </p:nvPr>
        </p:nvSpPr>
        <p:spPr>
          <a:xfrm>
            <a:off x="381633" y="2007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食在有意思</a:t>
            </a:r>
            <a:endParaRPr>
              <a:solidFill>
                <a:srgbClr val="FF00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小試身手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55" name="Google Shape;5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小試身手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>
            <p:ph type="ctrTitle"/>
          </p:nvPr>
        </p:nvSpPr>
        <p:spPr>
          <a:xfrm>
            <a:off x="433875" y="0"/>
            <a:ext cx="8520600" cy="733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1" name="Google Shape;61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8575" y="733200"/>
            <a:ext cx="8151200" cy="43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ctrTitle"/>
          </p:nvPr>
        </p:nvSpPr>
        <p:spPr>
          <a:xfrm>
            <a:off x="558913" y="219225"/>
            <a:ext cx="8520600" cy="100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68" name="Google Shape;6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6225" y="981687"/>
            <a:ext cx="5305975" cy="53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ctrTitle"/>
          </p:nvPr>
        </p:nvSpPr>
        <p:spPr>
          <a:xfrm>
            <a:off x="311700" y="316950"/>
            <a:ext cx="85206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4025" y="952950"/>
            <a:ext cx="6992474" cy="524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ctrTitle"/>
          </p:nvPr>
        </p:nvSpPr>
        <p:spPr>
          <a:xfrm>
            <a:off x="311700" y="341400"/>
            <a:ext cx="85206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2" name="Google Shape;8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499" y="1233900"/>
            <a:ext cx="6863926" cy="45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ctrTitle"/>
          </p:nvPr>
        </p:nvSpPr>
        <p:spPr>
          <a:xfrm>
            <a:off x="311700" y="133725"/>
            <a:ext cx="85206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zh-TW">
                <a:solidFill>
                  <a:srgbClr val="FF00FF"/>
                </a:solidFill>
              </a:rPr>
              <a:t>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0" name="Google Shape;9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342" y="897975"/>
            <a:ext cx="6777078" cy="50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87a3c774a_0_0"/>
          <p:cNvSpPr txBox="1"/>
          <p:nvPr>
            <p:ph type="ctrTitle"/>
          </p:nvPr>
        </p:nvSpPr>
        <p:spPr>
          <a:xfrm>
            <a:off x="311700" y="145900"/>
            <a:ext cx="8520600" cy="67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FF"/>
                </a:solidFill>
              </a:rPr>
              <a:t>6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6" name="Google Shape;96;g3887a3c774a_0_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g3887a3c774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919" y="658675"/>
            <a:ext cx="342816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360575" y="129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7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938" y="702525"/>
            <a:ext cx="86203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360575" y="54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8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1" name="Google Shape;1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6100" y="554750"/>
            <a:ext cx="3625375" cy="54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>
            <p:ph type="title"/>
          </p:nvPr>
        </p:nvSpPr>
        <p:spPr>
          <a:xfrm>
            <a:off x="311700" y="115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3000">
                <a:solidFill>
                  <a:srgbClr val="FF00FF"/>
                </a:solidFill>
              </a:rPr>
              <a:t>9</a:t>
            </a:r>
            <a:endParaRPr sz="3000">
              <a:solidFill>
                <a:srgbClr val="FF00FF"/>
              </a:solidFill>
            </a:endParaRPr>
          </a:p>
        </p:txBody>
      </p:sp>
      <p:sp>
        <p:nvSpPr>
          <p:cNvPr id="117" name="Google Shape;11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375" y="1017725"/>
            <a:ext cx="7309399" cy="486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title"/>
          </p:nvPr>
        </p:nvSpPr>
        <p:spPr>
          <a:xfrm>
            <a:off x="250600" y="151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10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24" name="Google Shape;124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9395" y="952975"/>
            <a:ext cx="510521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11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31" name="Google Shape;13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400" y="1152475"/>
            <a:ext cx="7095275" cy="502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87a3c774a_0_6"/>
          <p:cNvSpPr txBox="1"/>
          <p:nvPr>
            <p:ph type="title"/>
          </p:nvPr>
        </p:nvSpPr>
        <p:spPr>
          <a:xfrm>
            <a:off x="311700" y="200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FF"/>
                </a:solidFill>
              </a:rPr>
              <a:t>12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38" name="Google Shape;138;g3887a3c774a_0_6"/>
          <p:cNvSpPr txBox="1"/>
          <p:nvPr>
            <p:ph idx="1" type="body"/>
          </p:nvPr>
        </p:nvSpPr>
        <p:spPr>
          <a:xfrm>
            <a:off x="311700" y="1360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g3887a3c774a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6451" y="909300"/>
            <a:ext cx="417109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 txBox="1"/>
          <p:nvPr>
            <p:ph type="title"/>
          </p:nvPr>
        </p:nvSpPr>
        <p:spPr>
          <a:xfrm>
            <a:off x="311700" y="212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13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45" name="Google Shape;14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6" name="Google Shape;14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95295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14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52" name="Google Shape;15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53" name="Google Shape;1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525" y="56200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397225" y="2007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15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0" name="Google Shape;1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1538" y="661850"/>
            <a:ext cx="6900925" cy="48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01" y="0"/>
            <a:ext cx="90856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887a3c774a_0_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887a3c774a_0_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3300">
                <a:solidFill>
                  <a:srgbClr val="19191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《臺灣米其林指南 2025》新竹市與新竹縣必比登推介中 8 道米其林評審員最愛的菜色</a:t>
            </a:r>
            <a:endParaRPr b="1" sz="3300">
              <a:solidFill>
                <a:srgbClr val="191919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https://guide.michelin.com/tw/zh_TW/article/dining-out/inspectors-favorite-dishes-newly-listed-bib-gourmands-miichelin-guide-taiwan-hsinchu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71488"/>
            <a:ext cx="6096000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A7D6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95325" y="805400"/>
            <a:ext cx="914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zh-TW" sz="3500">
                <a:solidFill>
                  <a:srgbClr val="9900FF"/>
                </a:solidFill>
              </a:rPr>
              <a:t>磐石高中</a:t>
            </a:r>
            <a:r>
              <a:rPr b="1" lang="zh-TW" sz="3500">
                <a:solidFill>
                  <a:srgbClr val="9900FF"/>
                </a:solidFill>
              </a:rPr>
              <a:t>   三年可以參加的比賽.檢定.考試</a:t>
            </a:r>
            <a:endParaRPr b="1" sz="3500">
              <a:solidFill>
                <a:srgbClr val="9900FF"/>
              </a:solidFill>
            </a:endParaRPr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311700" y="1376600"/>
            <a:ext cx="8915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zh-TW" sz="3200">
                <a:solidFill>
                  <a:srgbClr val="FF0000"/>
                </a:solidFill>
              </a:rPr>
              <a:t>比賽</a:t>
            </a:r>
            <a:r>
              <a:rPr lang="zh-TW"/>
              <a:t>-</a:t>
            </a:r>
            <a:r>
              <a:rPr lang="zh-TW" sz="2300"/>
              <a:t>閱讀心得寫作比賽、</a:t>
            </a:r>
            <a:r>
              <a:rPr b="1" lang="zh-TW" sz="2500">
                <a:solidFill>
                  <a:srgbClr val="FF00FF"/>
                </a:solidFill>
              </a:rPr>
              <a:t>小論文</a:t>
            </a:r>
            <a:r>
              <a:rPr lang="zh-TW" sz="2300"/>
              <a:t>比賽、專題製作比賽、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300"/>
              <a:t>           技藝競賽、技能競賽、專題製作比賽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100">
                <a:solidFill>
                  <a:srgbClr val="FF0000"/>
                </a:solidFill>
              </a:rPr>
              <a:t>檢定</a:t>
            </a:r>
            <a:r>
              <a:rPr lang="zh-TW"/>
              <a:t>-</a:t>
            </a:r>
            <a:r>
              <a:rPr lang="zh-TW"/>
              <a:t>語文類：</a:t>
            </a:r>
            <a:r>
              <a:rPr lang="zh-TW" sz="2300"/>
              <a:t>全民英檢、</a:t>
            </a:r>
            <a:r>
              <a:rPr lang="zh-TW" sz="2300"/>
              <a:t>多益測驗、</a:t>
            </a:r>
            <a:r>
              <a:rPr lang="zh-TW" sz="2700">
                <a:solidFill>
                  <a:srgbClr val="FF00FF"/>
                </a:solidFill>
              </a:rPr>
              <a:t>PVQC</a:t>
            </a:r>
            <a:r>
              <a:rPr lang="zh-TW" sz="2700">
                <a:solidFill>
                  <a:srgbClr val="FF00FF"/>
                </a:solidFill>
              </a:rPr>
              <a:t>、中 檢定</a:t>
            </a:r>
            <a:endParaRPr sz="27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700">
                <a:solidFill>
                  <a:srgbClr val="FF00FF"/>
                </a:solidFill>
              </a:rPr>
              <a:t>         技能類：各項技能檢定、技藝競賽</a:t>
            </a:r>
            <a:endParaRPr sz="27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000">
                <a:solidFill>
                  <a:srgbClr val="FF0000"/>
                </a:solidFill>
              </a:rPr>
              <a:t>考試</a:t>
            </a:r>
            <a:r>
              <a:rPr lang="zh-TW"/>
              <a:t>-</a:t>
            </a:r>
            <a:r>
              <a:rPr lang="zh-TW" sz="2300"/>
              <a:t>(大學)學測、(科大)統測、</a:t>
            </a:r>
            <a:r>
              <a:rPr lang="zh-TW" sz="2300"/>
              <a:t>、、、、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2287875" y="82100"/>
            <a:ext cx="47589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500">
                <a:solidFill>
                  <a:srgbClr val="FF00FF"/>
                </a:solidFill>
              </a:rPr>
              <a:t>17</a:t>
            </a:r>
            <a:endParaRPr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>
                <a:solidFill>
                  <a:srgbClr val="FF00FF"/>
                </a:solidFill>
              </a:rPr>
              <a:t>18.校徽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300" y="1298575"/>
            <a:ext cx="2895600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291" y="480150"/>
            <a:ext cx="867761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139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300">
                <a:solidFill>
                  <a:srgbClr val="FF00FF"/>
                </a:solidFill>
              </a:rPr>
              <a:t>19.磐石學生圖像</a:t>
            </a:r>
            <a:endParaRPr sz="33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400000" y="61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3300">
                <a:solidFill>
                  <a:srgbClr val="FF00FF"/>
                </a:solidFill>
                <a:highlight>
                  <a:srgbClr val="FFFFFF"/>
                </a:highlight>
              </a:rPr>
              <a:t>20.</a:t>
            </a:r>
            <a:r>
              <a:rPr b="1" lang="zh-TW" sz="3300">
                <a:solidFill>
                  <a:srgbClr val="FF00FF"/>
                </a:solidFill>
                <a:highlight>
                  <a:srgbClr val="FFFFFF"/>
                </a:highlight>
              </a:rPr>
              <a:t>校訓</a:t>
            </a:r>
            <a:endParaRPr b="1" sz="3300">
              <a:solidFill>
                <a:srgbClr val="FF00FF"/>
              </a:solidFill>
              <a:highlight>
                <a:srgbClr val="FFFFFF"/>
              </a:highlight>
            </a:endParaRPr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213525" y="1446675"/>
            <a:ext cx="85206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spcBef>
                <a:spcPts val="120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誠: 誠實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樸: 樸學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勤: 勤勞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-425450" lvl="0" marL="685800" rtl="0" algn="ctr"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ts val="3100"/>
              <a:buChar char="●"/>
            </a:pPr>
            <a:r>
              <a:rPr lang="zh-TW" sz="3100">
                <a:solidFill>
                  <a:srgbClr val="FF00FF"/>
                </a:solidFill>
                <a:highlight>
                  <a:srgbClr val="FFFFFF"/>
                </a:highlight>
              </a:rPr>
              <a:t>儉: 節儉</a:t>
            </a:r>
            <a:endParaRPr sz="3100">
              <a:solidFill>
                <a:srgbClr val="FF00FF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87a3c774a_0_30"/>
          <p:cNvSpPr txBox="1"/>
          <p:nvPr>
            <p:ph type="title"/>
          </p:nvPr>
        </p:nvSpPr>
        <p:spPr>
          <a:xfrm>
            <a:off x="311700" y="456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700">
                <a:solidFill>
                  <a:srgbClr val="FF0000"/>
                </a:solidFill>
                <a:highlight>
                  <a:srgbClr val="FFFF00"/>
                </a:highlight>
              </a:rPr>
              <a:t>期末報告</a:t>
            </a:r>
            <a:r>
              <a:rPr lang="zh-TW" sz="4700">
                <a:solidFill>
                  <a:srgbClr val="FF0000"/>
                </a:solidFill>
              </a:rPr>
              <a:t>-  飲食相關小論文介紹</a:t>
            </a:r>
            <a:endParaRPr sz="4700">
              <a:solidFill>
                <a:srgbClr val="FF0000"/>
              </a:solidFill>
            </a:endParaRPr>
          </a:p>
        </p:txBody>
      </p:sp>
      <p:sp>
        <p:nvSpPr>
          <p:cNvPr id="213" name="Google Shape;213;g3887a3c774a_0_30"/>
          <p:cNvSpPr txBox="1"/>
          <p:nvPr>
            <p:ph idx="1" type="body"/>
          </p:nvPr>
        </p:nvSpPr>
        <p:spPr>
          <a:xfrm>
            <a:off x="996050" y="1240775"/>
            <a:ext cx="7944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1.12月起-上台發表5分鐘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2.PPT 12/20前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3.mail to :   </a:t>
            </a:r>
            <a:r>
              <a:rPr b="1" lang="zh-TW" sz="3400" u="sng">
                <a:solidFill>
                  <a:schemeClr val="hlink"/>
                </a:solidFill>
                <a:hlinkClick r:id="rId3"/>
              </a:rPr>
              <a:t>sakula@</a:t>
            </a:r>
            <a:r>
              <a:rPr b="1" lang="zh-TW" sz="3400">
                <a:solidFill>
                  <a:srgbClr val="9900FF"/>
                </a:solidFill>
              </a:rPr>
              <a:t>sphs.hc.edu.tw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b="1" lang="zh-TW" sz="3400">
                <a:solidFill>
                  <a:srgbClr val="9900FF"/>
                </a:solidFill>
              </a:rPr>
              <a:t>4.檔名:小論文介紹-000+000+000</a:t>
            </a:r>
            <a:endParaRPr b="1" sz="3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b="1" sz="3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87a3c774a_0_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小論文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9" name="Google Shape;219;g3887a3c774a_0_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 sz="2400" u="sng">
                <a:solidFill>
                  <a:schemeClr val="hlink"/>
                </a:solidFill>
                <a:hlinkClick r:id="rId3"/>
              </a:rPr>
              <a:t>https://www.shs.edu.tw/index.php?p=search</a:t>
            </a:r>
            <a:endParaRPr sz="3100"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1900" u="sng">
                <a:solidFill>
                  <a:srgbClr val="FF00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https://www.shs.edu.tw/works/essay/2017/03/2017030114112453.pdf</a:t>
            </a:r>
            <a:endParaRPr sz="39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000" u="sng">
                <a:solidFill>
                  <a:srgbClr val="FF00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https://www.shs.edu.tw/works/essay/2017/03/2017032421120360.pdf</a:t>
            </a:r>
            <a:endParaRPr sz="48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sz="2000" u="sng">
                <a:solidFill>
                  <a:srgbClr val="FF00FF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https://www.shs.edu.tw/works/essay/2017/03/2017031709001991.pdf</a:t>
            </a:r>
            <a:endParaRPr sz="57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 u="sng">
                <a:solidFill>
                  <a:schemeClr val="hlink"/>
                </a:solidFill>
                <a:hlinkClick r:id="rId7"/>
              </a:rPr>
              <a:t>https://www.shs.edu.tw/works/essay/2017/03/2017033108285193.pdf</a:t>
            </a:r>
            <a:endParaRPr sz="6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6400">
              <a:solidFill>
                <a:srgbClr val="FF00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 sz="5700">
              <a:solidFill>
                <a:srgbClr val="FF00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87a3c774a_0_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餐飲安全與衛生</a:t>
            </a:r>
            <a:endParaRPr/>
          </a:p>
        </p:txBody>
      </p:sp>
      <p:sp>
        <p:nvSpPr>
          <p:cNvPr id="225" name="Google Shape;225;g3887a3c774a_0_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zh-TW"/>
              <a:t>期中上台報告</a:t>
            </a:r>
            <a:endParaRPr/>
          </a:p>
        </p:txBody>
      </p:sp>
      <p:pic>
        <p:nvPicPr>
          <p:cNvPr id="226" name="Google Shape;226;g3887a3c774a_0_40"/>
          <p:cNvPicPr preferRelativeResize="0"/>
          <p:nvPr/>
        </p:nvPicPr>
        <p:blipFill rotWithShape="1">
          <a:blip r:embed="rId3">
            <a:alphaModFix/>
          </a:blip>
          <a:srcRect b="17198" l="0" r="0" t="8023"/>
          <a:stretch/>
        </p:blipFill>
        <p:spPr>
          <a:xfrm>
            <a:off x="0" y="0"/>
            <a:ext cx="9009526" cy="50528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87a3c774a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 sz="4100">
                <a:solidFill>
                  <a:srgbClr val="9900FF"/>
                </a:solidFill>
              </a:rPr>
              <a:t>分組時間--3人一組</a:t>
            </a:r>
            <a:endParaRPr sz="4400">
              <a:solidFill>
                <a:srgbClr val="99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2" name="Google Shape;232;g3887a3c774a_0_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887a3c774a_0_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TW"/>
              <a:t>自我介紹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8" name="Google Shape;238;g3887a3c774a_0_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zh-TW"/>
              <a:t>1.班級:     座號:    姓名:            英文名:         畢業國中:     gmail帳號: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2.我的興趣: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3.寫出我記得的班上同學名字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4.我希望三年畢業後成為: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zh-TW"/>
              <a:t>5.我覺得磐石人最重要的特質條件是:    為甚麼?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