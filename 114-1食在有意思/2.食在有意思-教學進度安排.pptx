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gUMrwvXnBvLtaG882Bpfy3vLrt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ee9b23a4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7eee9b23a4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7eee9b23a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7eee9b23a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7eee9b23a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7eee9b23a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eee9b23a4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eee9b23a4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eee9b23a4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eee9b23a4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eee9b23a4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eee9b23a4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eee9b23a4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eee9b23a4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eee9b23a4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eee9b23a4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eee9b23a4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eee9b23a4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eee9b23a4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eee9b23a4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eee9b23a4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eee9b23a4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eee9b23a4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eee9b23a4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ee9b23a4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eee9b23a4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eee9b23a4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eee9b23a4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87a3c774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887a3c774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87a3c774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887a3c774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87a3c774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887a3c774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87a3c774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887a3c774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87a3c774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887a3c774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eee9b23a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7eee9b23a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eee9b23a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eee9b23a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eee9b23a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eee9b23a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eee9b23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7eee9b23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eee9b23a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eee9b23a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eee9b23a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7eee9b23a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eee9b23a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7eee9b23a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g37eee9b23a4_0_2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7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g37eee9b23a4_0_219"/>
          <p:cNvSpPr txBox="1"/>
          <p:nvPr>
            <p:ph type="ctrTitle"/>
          </p:nvPr>
        </p:nvSpPr>
        <p:spPr>
          <a:xfrm>
            <a:off x="1443037" y="1059656"/>
            <a:ext cx="73770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g37eee9b23a4_0_219"/>
          <p:cNvSpPr txBox="1"/>
          <p:nvPr>
            <p:ph idx="1" type="subTitle"/>
          </p:nvPr>
        </p:nvSpPr>
        <p:spPr>
          <a:xfrm>
            <a:off x="1443037" y="2570559"/>
            <a:ext cx="72390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/>
              <a:buChar char="•"/>
              <a:defRPr b="0" i="0" sz="3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85750" lvl="1" marL="7429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b="0" i="0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28600" lvl="2" marL="11430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Char char="•"/>
              <a:defRPr b="0" i="0" sz="2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28600" lvl="3" marL="16002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•"/>
              <a:defRPr b="0" i="0" sz="1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28600" lvl="4" marL="20574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•"/>
              <a:defRPr b="0" i="0" sz="1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5146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•"/>
              <a:defRPr b="0" i="0" sz="1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228600" lvl="6" marL="34290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•"/>
              <a:defRPr b="0" i="0" sz="1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228600" lvl="7" marL="48006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•"/>
              <a:defRPr b="0" i="0" sz="1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228600" lvl="8" marL="66294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•"/>
              <a:defRPr b="0" i="0" sz="1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5" name="Google Shape;15;g37eee9b23a4_0_219"/>
          <p:cNvSpPr txBox="1"/>
          <p:nvPr>
            <p:ph idx="10" type="dt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g37eee9b23a4_0_219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on left, text on right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7eee9b23a4_0_225"/>
          <p:cNvSpPr txBox="1"/>
          <p:nvPr>
            <p:ph idx="10" type="dt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g37eee9b23a4_0_225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g37eee9b23a4_0_225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7eee9b23a4_0_229"/>
          <p:cNvSpPr txBox="1"/>
          <p:nvPr>
            <p:ph type="title"/>
          </p:nvPr>
        </p:nvSpPr>
        <p:spPr>
          <a:xfrm>
            <a:off x="2051050" y="226219"/>
            <a:ext cx="6632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g37eee9b23a4_0_229"/>
          <p:cNvSpPr txBox="1"/>
          <p:nvPr>
            <p:ph idx="10" type="dt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g37eee9b23a4_0_229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g37eee9b23a4_0_229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7eee9b23a4_0_234"/>
          <p:cNvSpPr txBox="1"/>
          <p:nvPr>
            <p:ph type="title"/>
          </p:nvPr>
        </p:nvSpPr>
        <p:spPr>
          <a:xfrm>
            <a:off x="2051050" y="226219"/>
            <a:ext cx="6632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g37eee9b23a4_0_234"/>
          <p:cNvSpPr txBox="1"/>
          <p:nvPr>
            <p:ph idx="1" type="body"/>
          </p:nvPr>
        </p:nvSpPr>
        <p:spPr>
          <a:xfrm>
            <a:off x="1763712" y="1059656"/>
            <a:ext cx="6953100" cy="3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/>
              <a:buChar char="•"/>
              <a:defRPr b="0" i="0" sz="3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b="0" i="0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Char char="•"/>
              <a:defRPr b="0" i="0" sz="2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49250" lvl="3" marL="18288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•"/>
              <a:defRPr b="0" i="0" sz="1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9250" lvl="4" marL="22860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•"/>
              <a:defRPr b="0" i="0" sz="1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9250" lvl="5" marL="27432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•"/>
              <a:defRPr b="0" i="0" sz="1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49250" lvl="6" marL="32004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•"/>
              <a:defRPr b="0" i="0" sz="1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49250" lvl="7" marL="36576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•"/>
              <a:defRPr b="0" i="0" sz="1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49250" lvl="8" marL="41148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•"/>
              <a:defRPr b="0" i="0" sz="1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9" name="Google Shape;29;g37eee9b23a4_0_234"/>
          <p:cNvSpPr txBox="1"/>
          <p:nvPr>
            <p:ph idx="10" type="dt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g37eee9b23a4_0_234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g37eee9b23a4_0_234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7eee9b23a4_0_240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g37eee9b23a4_0_240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g37eee9b23a4_0_240"/>
          <p:cNvSpPr txBox="1"/>
          <p:nvPr>
            <p:ph idx="12" type="sldNum"/>
          </p:nvPr>
        </p:nvSpPr>
        <p:spPr>
          <a:xfrm>
            <a:off x="7162800" y="4972050"/>
            <a:ext cx="1981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37eee9b23a4_0_2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6831805" cy="516374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g37eee9b23a4_0_213"/>
          <p:cNvSpPr txBox="1"/>
          <p:nvPr>
            <p:ph type="title"/>
          </p:nvPr>
        </p:nvSpPr>
        <p:spPr>
          <a:xfrm>
            <a:off x="2051050" y="226219"/>
            <a:ext cx="6632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7eee9b23a4_0_213"/>
          <p:cNvSpPr txBox="1"/>
          <p:nvPr>
            <p:ph idx="1" type="body"/>
          </p:nvPr>
        </p:nvSpPr>
        <p:spPr>
          <a:xfrm>
            <a:off x="1763712" y="1059656"/>
            <a:ext cx="6953100" cy="3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/>
              <a:buChar char="•"/>
              <a:defRPr b="0" i="0" sz="3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b="0" i="0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Char char="•"/>
              <a:defRPr b="0" i="0" sz="2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49250" lvl="3" marL="18288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•"/>
              <a:defRPr b="0" i="0" sz="1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9250" lvl="4" marL="22860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•"/>
              <a:defRPr b="0" i="0" sz="1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9250" lvl="5" marL="27432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•"/>
              <a:defRPr b="0" i="0" sz="1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49250" lvl="6" marL="32004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•"/>
              <a:defRPr b="0" i="0" sz="1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49250" lvl="7" marL="36576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•"/>
              <a:defRPr b="0" i="0" sz="1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49250" lvl="8" marL="41148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Char char="•"/>
              <a:defRPr b="0" i="0" sz="1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9" name="Google Shape;9;g37eee9b23a4_0_213"/>
          <p:cNvSpPr txBox="1"/>
          <p:nvPr>
            <p:ph idx="10" type="dt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g37eee9b23a4_0_213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google.com/search?q=02-%E6%95%B8%E6%93%9A%E8%A7%A3%E8%AE%80%E5%8F%B0%E7%81%A3%E9%A3%B2%E9%A3%9F%E7%8F%BE%E6%B3%81&amp;oq=02-%E6%95%B8%E6%93%9A%E8%A7%A3%E8%AE%80%E5%8F%B0%E7%81%A3%E9%A3%B2%E9%A3%9F%E7%8F%BE%E6%B3%81&amp;gs_lcrp=EgZjaHJvbWUyBggAEEUYOTIHCAEQABjvBTIKCAIQABiiBBiJBTIKCAMQABiABBiiBDIGCAQQRRg8MgYIBRBFGD3SAQkyOTU2ajBqMTWoAgiwAgHxBTmHeg4QGhzp&amp;sourceid=chrome&amp;ie=UTF-8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hyperlink" Target="mailto:sakula@x365.tmsh.tc.edu.tw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shs.edu.tw/index.php?p=search" TargetMode="External"/><Relationship Id="rId4" Type="http://schemas.openxmlformats.org/officeDocument/2006/relationships/hyperlink" Target="https://www.shs.edu.tw/works/essay/2017/03/2017030114112453.pdf" TargetMode="External"/><Relationship Id="rId5" Type="http://schemas.openxmlformats.org/officeDocument/2006/relationships/hyperlink" Target="https://www.shs.edu.tw/works/essay/2017/03/2017032421120360.pdf" TargetMode="External"/><Relationship Id="rId6" Type="http://schemas.openxmlformats.org/officeDocument/2006/relationships/hyperlink" Target="https://www.shs.edu.tw/works/essay/2017/03/2017031709001991.pdf" TargetMode="External"/><Relationship Id="rId7" Type="http://schemas.openxmlformats.org/officeDocument/2006/relationships/hyperlink" Target="https://www.shs.edu.tw/works/essay/2017/03/2017033108285193.pdf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/>
          <p:nvPr>
            <p:ph type="ctrTitle"/>
          </p:nvPr>
        </p:nvSpPr>
        <p:spPr>
          <a:xfrm>
            <a:off x="1508700" y="-754375"/>
            <a:ext cx="7635300" cy="422910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/>
              <a:t>食在有意思02-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5700">
                <a:solidFill>
                  <a:srgbClr val="FF00FF"/>
                </a:solidFill>
              </a:rPr>
              <a:t>數據解讀台灣飲食現況</a:t>
            </a:r>
            <a:endParaRPr b="1" sz="5700">
              <a:solidFill>
                <a:srgbClr val="FF00F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7eee9b23a4_0_244"/>
          <p:cNvSpPr txBox="1"/>
          <p:nvPr>
            <p:ph type="ctrTitle"/>
          </p:nvPr>
        </p:nvSpPr>
        <p:spPr>
          <a:xfrm>
            <a:off x="1443037" y="1059656"/>
            <a:ext cx="7377000" cy="7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7eee9b23a4_0_244"/>
          <p:cNvSpPr txBox="1"/>
          <p:nvPr>
            <p:ph idx="1" type="subTitle"/>
          </p:nvPr>
        </p:nvSpPr>
        <p:spPr>
          <a:xfrm>
            <a:off x="1443037" y="2570559"/>
            <a:ext cx="7239000" cy="13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14300" lvl="0" marL="342900" rtl="0" algn="l"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" name="Google Shape;47;g37eee9b23a4_0_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eee9b23a4_0_42"/>
          <p:cNvSpPr txBox="1"/>
          <p:nvPr>
            <p:ph type="ctrTitle"/>
          </p:nvPr>
        </p:nvSpPr>
        <p:spPr>
          <a:xfrm>
            <a:off x="2981725" y="2989200"/>
            <a:ext cx="74394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50">
              <a:solidFill>
                <a:srgbClr val="FF00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50">
              <a:solidFill>
                <a:srgbClr val="FF00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zh-TW" sz="3450">
                <a:solidFill>
                  <a:srgbClr val="FF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數位化</a:t>
            </a:r>
            <a:endParaRPr sz="3450">
              <a:solidFill>
                <a:srgbClr val="FF00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zh-TW" sz="3450">
                <a:solidFill>
                  <a:srgbClr val="FF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健康意識和</a:t>
            </a:r>
            <a:endParaRPr sz="3450">
              <a:solidFill>
                <a:srgbClr val="FF00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zh-TW" sz="3450">
                <a:solidFill>
                  <a:srgbClr val="FF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在地文化</a:t>
            </a:r>
            <a:endParaRPr sz="3450">
              <a:solidFill>
                <a:srgbClr val="FF00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0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300">
              <a:solidFill>
                <a:srgbClr val="FF00FF"/>
              </a:solidFill>
            </a:endParaRPr>
          </a:p>
        </p:txBody>
      </p:sp>
      <p:sp>
        <p:nvSpPr>
          <p:cNvPr id="53" name="Google Shape;53;g37eee9b23a4_0_42"/>
          <p:cNvSpPr txBox="1"/>
          <p:nvPr/>
        </p:nvSpPr>
        <p:spPr>
          <a:xfrm>
            <a:off x="1446150" y="402525"/>
            <a:ext cx="7320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3450" u="sng">
                <a:solidFill>
                  <a:srgbClr val="9900FF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2025台灣餐飲觀光業10大發展趨勢</a:t>
            </a:r>
            <a:endParaRPr sz="3600">
              <a:solidFill>
                <a:srgbClr val="9900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eee9b23a4_0_48"/>
          <p:cNvSpPr txBox="1"/>
          <p:nvPr>
            <p:ph type="ctrTitle"/>
          </p:nvPr>
        </p:nvSpPr>
        <p:spPr>
          <a:xfrm>
            <a:off x="969050" y="1089475"/>
            <a:ext cx="84771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1、數位化轉型加速</a:t>
            </a:r>
            <a:endParaRPr sz="36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      改善大缺工時代</a:t>
            </a:r>
            <a:endParaRPr sz="64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eee9b23a4_0_257"/>
          <p:cNvSpPr txBox="1"/>
          <p:nvPr>
            <p:ph type="ctrTitle"/>
          </p:nvPr>
        </p:nvSpPr>
        <p:spPr>
          <a:xfrm>
            <a:off x="969050" y="1089475"/>
            <a:ext cx="84771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2、銀髮與健康飲食崛</a:t>
            </a: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起，</a:t>
            </a:r>
            <a:endParaRPr sz="36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  功能性食品成為趨勢</a:t>
            </a:r>
            <a:endParaRPr sz="3600">
              <a:solidFill>
                <a:srgbClr val="FF00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eee9b23a4_0_261"/>
          <p:cNvSpPr txBox="1"/>
          <p:nvPr>
            <p:ph type="ctrTitle"/>
          </p:nvPr>
        </p:nvSpPr>
        <p:spPr>
          <a:xfrm>
            <a:off x="969050" y="1089475"/>
            <a:ext cx="84771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3、結合在地文化與風味，</a:t>
            </a:r>
            <a:endParaRPr sz="36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     永續經營成為發展關鍵</a:t>
            </a:r>
            <a:endParaRPr sz="3600">
              <a:solidFill>
                <a:srgbClr val="FF00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eee9b23a4_0_294"/>
          <p:cNvSpPr txBox="1"/>
          <p:nvPr>
            <p:ph type="ctrTitle"/>
          </p:nvPr>
        </p:nvSpPr>
        <p:spPr>
          <a:xfrm>
            <a:off x="1443037" y="1059656"/>
            <a:ext cx="7377000" cy="7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7eee9b23a4_0_294"/>
          <p:cNvSpPr txBox="1"/>
          <p:nvPr>
            <p:ph idx="1" type="subTitle"/>
          </p:nvPr>
        </p:nvSpPr>
        <p:spPr>
          <a:xfrm>
            <a:off x="1443037" y="2570559"/>
            <a:ext cx="7239000" cy="13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14300" lvl="0" marL="342900" rtl="0" algn="l"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eee9b23a4_0_265"/>
          <p:cNvSpPr txBox="1"/>
          <p:nvPr>
            <p:ph type="ctrTitle"/>
          </p:nvPr>
        </p:nvSpPr>
        <p:spPr>
          <a:xfrm>
            <a:off x="969050" y="1089475"/>
            <a:ext cx="84771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4、特色活動與會員福利博得關注，</a:t>
            </a:r>
            <a:endParaRPr sz="36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分眾市場發展更為重要</a:t>
            </a:r>
            <a:endParaRPr sz="3600">
              <a:solidFill>
                <a:srgbClr val="FF00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eee9b23a4_0_269"/>
          <p:cNvSpPr txBox="1"/>
          <p:nvPr>
            <p:ph type="ctrTitle"/>
          </p:nvPr>
        </p:nvSpPr>
        <p:spPr>
          <a:xfrm>
            <a:off x="969050" y="1089475"/>
            <a:ext cx="84771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5、跨界合作與深度體驗風潮刮起</a:t>
            </a:r>
            <a:endParaRPr sz="3600">
              <a:solidFill>
                <a:srgbClr val="FF00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eee9b23a4_0_273"/>
          <p:cNvSpPr txBox="1"/>
          <p:nvPr>
            <p:ph type="ctrTitle"/>
          </p:nvPr>
        </p:nvSpPr>
        <p:spPr>
          <a:xfrm>
            <a:off x="969050" y="1089475"/>
            <a:ext cx="84771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6、健康旅遊興起，</a:t>
            </a:r>
            <a:endParaRPr sz="36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親子、銀髮、健身、心靈等</a:t>
            </a:r>
            <a:endParaRPr sz="36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面向成為目標</a:t>
            </a:r>
            <a:endParaRPr sz="64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eee9b23a4_0_277"/>
          <p:cNvSpPr txBox="1"/>
          <p:nvPr>
            <p:ph type="ctrTitle"/>
          </p:nvPr>
        </p:nvSpPr>
        <p:spPr>
          <a:xfrm>
            <a:off x="969050" y="1089475"/>
            <a:ext cx="84771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7、結合在地特色與創意，</a:t>
            </a:r>
            <a:endParaRPr sz="36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故事化的行銷模式傳遞文化價值</a:t>
            </a:r>
            <a:endParaRPr sz="3600">
              <a:solidFill>
                <a:srgbClr val="FF00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eee9b23a4_0_281"/>
          <p:cNvSpPr txBox="1"/>
          <p:nvPr>
            <p:ph type="ctrTitle"/>
          </p:nvPr>
        </p:nvSpPr>
        <p:spPr>
          <a:xfrm>
            <a:off x="969050" y="1089475"/>
            <a:ext cx="84771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8、永續精神融入觀光，</a:t>
            </a:r>
            <a:endParaRPr sz="36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低碳旅遊模式興起</a:t>
            </a:r>
            <a:endParaRPr sz="3600">
              <a:solidFill>
                <a:srgbClr val="FF00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eee9b23a4_0_285"/>
          <p:cNvSpPr txBox="1"/>
          <p:nvPr>
            <p:ph type="ctrTitle"/>
          </p:nvPr>
        </p:nvSpPr>
        <p:spPr>
          <a:xfrm>
            <a:off x="969050" y="1089475"/>
            <a:ext cx="84771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8、永續精神融入觀光，</a:t>
            </a:r>
            <a:endParaRPr sz="36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低碳旅遊模式興起</a:t>
            </a:r>
            <a:endParaRPr sz="3600">
              <a:solidFill>
                <a:srgbClr val="FF00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ee9b23a4_0_289"/>
          <p:cNvSpPr txBox="1"/>
          <p:nvPr>
            <p:ph type="ctrTitle"/>
          </p:nvPr>
        </p:nvSpPr>
        <p:spPr>
          <a:xfrm>
            <a:off x="969050" y="1089475"/>
            <a:ext cx="84771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9、城市特色品牌化，</a:t>
            </a:r>
            <a:endParaRPr sz="36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FF"/>
                </a:solidFill>
                <a:highlight>
                  <a:srgbClr val="FFFFFF"/>
                </a:highlight>
              </a:rPr>
              <a:t>打造地方旅遊亮點</a:t>
            </a:r>
            <a:endParaRPr sz="36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00FF"/>
              </a:solidFill>
              <a:highlight>
                <a:srgbClr val="FFFFFF"/>
              </a:highlight>
            </a:endParaRPr>
          </a:p>
        </p:txBody>
      </p:sp>
      <p:sp>
        <p:nvSpPr>
          <p:cNvPr id="110" name="Google Shape;110;g37eee9b23a4_0_289"/>
          <p:cNvSpPr txBox="1"/>
          <p:nvPr/>
        </p:nvSpPr>
        <p:spPr>
          <a:xfrm>
            <a:off x="0" y="0"/>
            <a:ext cx="30000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A08652"/>
                </a:solidFill>
                <a:highlight>
                  <a:srgbClr val="FFFFFF"/>
                </a:highlight>
              </a:rPr>
              <a:t>10、國際觀光商機拓展，客製化規劃旅遊路線</a:t>
            </a:r>
            <a:endParaRPr b="1" sz="1200">
              <a:solidFill>
                <a:srgbClr val="A08652"/>
              </a:solidFill>
              <a:highlight>
                <a:srgbClr val="FFFFFF"/>
              </a:highligh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00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eee9b23a4_0_249"/>
          <p:cNvSpPr txBox="1"/>
          <p:nvPr>
            <p:ph idx="1" type="subTitle"/>
          </p:nvPr>
        </p:nvSpPr>
        <p:spPr>
          <a:xfrm>
            <a:off x="1443037" y="1914459"/>
            <a:ext cx="7239000" cy="13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10、國際觀光商機拓展，</a:t>
            </a:r>
            <a:endParaRPr b="1">
              <a:solidFill>
                <a:srgbClr val="FF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客製化規劃旅遊路線</a:t>
            </a:r>
            <a:endParaRPr b="1">
              <a:solidFill>
                <a:srgbClr val="FF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0"/>
          <p:cNvSpPr txBox="1"/>
          <p:nvPr>
            <p:ph type="title"/>
          </p:nvPr>
        </p:nvSpPr>
        <p:spPr>
          <a:xfrm>
            <a:off x="2051050" y="226219"/>
            <a:ext cx="6632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>
                <a:solidFill>
                  <a:srgbClr val="FF00FF"/>
                </a:solidFill>
              </a:rPr>
              <a:t>18.校徽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21" name="Google Shape;121;p30"/>
          <p:cNvSpPr txBox="1"/>
          <p:nvPr>
            <p:ph idx="1" type="body"/>
          </p:nvPr>
        </p:nvSpPr>
        <p:spPr>
          <a:xfrm>
            <a:off x="1763712" y="1059656"/>
            <a:ext cx="6953100" cy="3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22" name="Google Shape;12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5300" y="1298575"/>
            <a:ext cx="28956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3"/>
          <p:cNvSpPr txBox="1"/>
          <p:nvPr>
            <p:ph type="title"/>
          </p:nvPr>
        </p:nvSpPr>
        <p:spPr>
          <a:xfrm>
            <a:off x="400000" y="610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3300">
                <a:solidFill>
                  <a:srgbClr val="FF00FF"/>
                </a:solidFill>
                <a:highlight>
                  <a:srgbClr val="FFFFFF"/>
                </a:highlight>
              </a:rPr>
              <a:t>20.校訓</a:t>
            </a:r>
            <a:endParaRPr b="1" sz="3300">
              <a:solidFill>
                <a:srgbClr val="FF00FF"/>
              </a:solidFill>
              <a:highlight>
                <a:srgbClr val="FFFFFF"/>
              </a:highlight>
            </a:endParaRPr>
          </a:p>
        </p:txBody>
      </p:sp>
      <p:sp>
        <p:nvSpPr>
          <p:cNvPr id="128" name="Google Shape;128;p33"/>
          <p:cNvSpPr txBox="1"/>
          <p:nvPr>
            <p:ph idx="1" type="body"/>
          </p:nvPr>
        </p:nvSpPr>
        <p:spPr>
          <a:xfrm>
            <a:off x="213525" y="1446675"/>
            <a:ext cx="85206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-425450" lvl="0" marL="6858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FF"/>
              </a:buClr>
              <a:buSzPts val="3100"/>
              <a:buChar char="●"/>
            </a:pPr>
            <a:r>
              <a:rPr lang="zh-TW" sz="3100">
                <a:solidFill>
                  <a:srgbClr val="FF00FF"/>
                </a:solidFill>
                <a:highlight>
                  <a:srgbClr val="FFFFFF"/>
                </a:highlight>
              </a:rPr>
              <a:t>誠: 誠實</a:t>
            </a:r>
            <a:endParaRPr sz="31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-425450" lvl="0" marL="685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3100"/>
              <a:buChar char="●"/>
            </a:pPr>
            <a:r>
              <a:rPr lang="zh-TW" sz="3100">
                <a:solidFill>
                  <a:srgbClr val="FF00FF"/>
                </a:solidFill>
                <a:highlight>
                  <a:srgbClr val="FFFFFF"/>
                </a:highlight>
              </a:rPr>
              <a:t>樸: 樸學</a:t>
            </a:r>
            <a:endParaRPr sz="31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-425450" lvl="0" marL="685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3100"/>
              <a:buChar char="●"/>
            </a:pPr>
            <a:r>
              <a:rPr lang="zh-TW" sz="3100">
                <a:solidFill>
                  <a:srgbClr val="FF00FF"/>
                </a:solidFill>
                <a:highlight>
                  <a:srgbClr val="FFFFFF"/>
                </a:highlight>
              </a:rPr>
              <a:t>勤: 勤勞</a:t>
            </a:r>
            <a:endParaRPr sz="31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-425450" lvl="0" marL="685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3100"/>
              <a:buChar char="●"/>
            </a:pPr>
            <a:r>
              <a:rPr lang="zh-TW" sz="3100">
                <a:solidFill>
                  <a:srgbClr val="FF00FF"/>
                </a:solidFill>
                <a:highlight>
                  <a:srgbClr val="FFFFFF"/>
                </a:highlight>
              </a:rPr>
              <a:t>儉: 節儉</a:t>
            </a:r>
            <a:endParaRPr sz="31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291" y="480150"/>
            <a:ext cx="867761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2"/>
          <p:cNvSpPr txBox="1"/>
          <p:nvPr>
            <p:ph idx="1" type="body"/>
          </p:nvPr>
        </p:nvSpPr>
        <p:spPr>
          <a:xfrm>
            <a:off x="1763712" y="1059656"/>
            <a:ext cx="6953100" cy="3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5" name="Google Shape;135;p32"/>
          <p:cNvSpPr txBox="1"/>
          <p:nvPr>
            <p:ph type="title"/>
          </p:nvPr>
        </p:nvSpPr>
        <p:spPr>
          <a:xfrm>
            <a:off x="311700" y="139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 sz="3300">
                <a:solidFill>
                  <a:srgbClr val="FF00FF"/>
                </a:solidFill>
              </a:rPr>
              <a:t>19.磐石學生圖像</a:t>
            </a:r>
            <a:endParaRPr sz="33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87a3c774a_0_30"/>
          <p:cNvSpPr txBox="1"/>
          <p:nvPr>
            <p:ph type="title"/>
          </p:nvPr>
        </p:nvSpPr>
        <p:spPr>
          <a:xfrm>
            <a:off x="311700" y="4560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 sz="4700">
                <a:solidFill>
                  <a:srgbClr val="FF0000"/>
                </a:solidFill>
                <a:highlight>
                  <a:srgbClr val="FFFF00"/>
                </a:highlight>
              </a:rPr>
              <a:t>期末報告</a:t>
            </a:r>
            <a:r>
              <a:rPr lang="zh-TW" sz="4700">
                <a:solidFill>
                  <a:srgbClr val="FF0000"/>
                </a:solidFill>
              </a:rPr>
              <a:t>-  飲食相關小論文介紹</a:t>
            </a:r>
            <a:endParaRPr sz="4700">
              <a:solidFill>
                <a:srgbClr val="FF0000"/>
              </a:solidFill>
            </a:endParaRPr>
          </a:p>
        </p:txBody>
      </p:sp>
      <p:sp>
        <p:nvSpPr>
          <p:cNvPr id="141" name="Google Shape;141;g3887a3c774a_0_30"/>
          <p:cNvSpPr txBox="1"/>
          <p:nvPr>
            <p:ph idx="1" type="body"/>
          </p:nvPr>
        </p:nvSpPr>
        <p:spPr>
          <a:xfrm>
            <a:off x="996050" y="1240775"/>
            <a:ext cx="7944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zh-TW" sz="3400">
                <a:solidFill>
                  <a:srgbClr val="9900FF"/>
                </a:solidFill>
              </a:rPr>
              <a:t>1.12月起-上台發表5分鐘</a:t>
            </a:r>
            <a:endParaRPr b="1" sz="3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zh-TW" sz="3400">
                <a:solidFill>
                  <a:srgbClr val="9900FF"/>
                </a:solidFill>
              </a:rPr>
              <a:t>2.PPT 12/20前</a:t>
            </a:r>
            <a:endParaRPr b="1" sz="3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zh-TW" sz="3400">
                <a:solidFill>
                  <a:srgbClr val="9900FF"/>
                </a:solidFill>
              </a:rPr>
              <a:t>3.mail to :   </a:t>
            </a:r>
            <a:r>
              <a:rPr b="1" lang="zh-TW" sz="3400" u="sng">
                <a:solidFill>
                  <a:schemeClr val="hlink"/>
                </a:solidFill>
                <a:hlinkClick r:id="rId3"/>
              </a:rPr>
              <a:t>sakula@</a:t>
            </a:r>
            <a:r>
              <a:rPr b="1" lang="zh-TW" sz="3400">
                <a:solidFill>
                  <a:srgbClr val="9900FF"/>
                </a:solidFill>
              </a:rPr>
              <a:t>sphs.hc.edu.tw</a:t>
            </a:r>
            <a:endParaRPr b="1" sz="3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zh-TW" sz="3400">
                <a:solidFill>
                  <a:srgbClr val="9900FF"/>
                </a:solidFill>
              </a:rPr>
              <a:t>4.檔名:小論文介紹-000+000+000</a:t>
            </a:r>
            <a:endParaRPr b="1" sz="3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b="1" sz="34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87a3c774a_0_35"/>
          <p:cNvSpPr txBox="1"/>
          <p:nvPr>
            <p:ph type="title"/>
          </p:nvPr>
        </p:nvSpPr>
        <p:spPr>
          <a:xfrm>
            <a:off x="2051050" y="226219"/>
            <a:ext cx="6632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/>
              <a:t>小論文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47" name="Google Shape;147;g3887a3c774a_0_35"/>
          <p:cNvSpPr txBox="1"/>
          <p:nvPr>
            <p:ph idx="1" type="body"/>
          </p:nvPr>
        </p:nvSpPr>
        <p:spPr>
          <a:xfrm>
            <a:off x="1763712" y="1059656"/>
            <a:ext cx="6953100" cy="3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2400" u="sng">
                <a:solidFill>
                  <a:schemeClr val="hlink"/>
                </a:solidFill>
                <a:hlinkClick r:id="rId3"/>
              </a:rPr>
              <a:t>https://www.shs.edu.tw/index.php?p=search</a:t>
            </a:r>
            <a:endParaRPr sz="31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zh-TW" sz="1900" u="sng">
                <a:solidFill>
                  <a:srgbClr val="FF00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https://www.shs.edu.tw/works/essay/2017/03/2017030114112453.pdf</a:t>
            </a:r>
            <a:endParaRPr sz="39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zh-TW" sz="2000" u="sng">
                <a:solidFill>
                  <a:srgbClr val="FF00FF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https://www.shs.edu.tw/works/essay/2017/03/2017032421120360.pdf</a:t>
            </a:r>
            <a:endParaRPr sz="48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zh-TW" sz="2000" u="sng">
                <a:solidFill>
                  <a:srgbClr val="FF00FF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https://www.shs.edu.tw/works/essay/2017/03/2017031709001991.pdf</a:t>
            </a:r>
            <a:endParaRPr sz="57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zh-TW" u="sng">
                <a:solidFill>
                  <a:schemeClr val="hlink"/>
                </a:solidFill>
                <a:hlinkClick r:id="rId7"/>
              </a:rPr>
              <a:t>https://www.shs.edu.tw/works/essay/2017/03/2017033108285193.pdf</a:t>
            </a:r>
            <a:endParaRPr sz="6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6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57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87a3c774a_0_40"/>
          <p:cNvSpPr txBox="1"/>
          <p:nvPr>
            <p:ph type="title"/>
          </p:nvPr>
        </p:nvSpPr>
        <p:spPr>
          <a:xfrm>
            <a:off x="2051050" y="226219"/>
            <a:ext cx="6632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/>
              <a:t>餐飲安全與衛生</a:t>
            </a:r>
            <a:endParaRPr/>
          </a:p>
        </p:txBody>
      </p:sp>
      <p:sp>
        <p:nvSpPr>
          <p:cNvPr id="153" name="Google Shape;153;g3887a3c774a_0_40"/>
          <p:cNvSpPr txBox="1"/>
          <p:nvPr>
            <p:ph idx="1" type="body"/>
          </p:nvPr>
        </p:nvSpPr>
        <p:spPr>
          <a:xfrm>
            <a:off x="1763712" y="1059656"/>
            <a:ext cx="6953100" cy="3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zh-TW"/>
              <a:t>期中上台報告</a:t>
            </a:r>
            <a:endParaRPr/>
          </a:p>
        </p:txBody>
      </p:sp>
      <p:pic>
        <p:nvPicPr>
          <p:cNvPr id="154" name="Google Shape;154;g3887a3c774a_0_40"/>
          <p:cNvPicPr preferRelativeResize="0"/>
          <p:nvPr/>
        </p:nvPicPr>
        <p:blipFill rotWithShape="1">
          <a:blip r:embed="rId3">
            <a:alphaModFix/>
          </a:blip>
          <a:srcRect b="17198" l="0" r="0" t="8023"/>
          <a:stretch/>
        </p:blipFill>
        <p:spPr>
          <a:xfrm>
            <a:off x="223625" y="45300"/>
            <a:ext cx="9009526" cy="5052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87a3c774a_0_46"/>
          <p:cNvSpPr txBox="1"/>
          <p:nvPr>
            <p:ph type="title"/>
          </p:nvPr>
        </p:nvSpPr>
        <p:spPr>
          <a:xfrm>
            <a:off x="2051050" y="226219"/>
            <a:ext cx="6632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 sz="4100">
                <a:solidFill>
                  <a:srgbClr val="9900FF"/>
                </a:solidFill>
              </a:rPr>
              <a:t>分組時間--3人一組</a:t>
            </a:r>
            <a:endParaRPr sz="4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60" name="Google Shape;160;g3887a3c774a_0_46"/>
          <p:cNvSpPr txBox="1"/>
          <p:nvPr>
            <p:ph idx="1" type="body"/>
          </p:nvPr>
        </p:nvSpPr>
        <p:spPr>
          <a:xfrm>
            <a:off x="1763712" y="1059656"/>
            <a:ext cx="6953100" cy="3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87a3c774a_0_51"/>
          <p:cNvSpPr txBox="1"/>
          <p:nvPr>
            <p:ph type="title"/>
          </p:nvPr>
        </p:nvSpPr>
        <p:spPr>
          <a:xfrm>
            <a:off x="2051050" y="226219"/>
            <a:ext cx="6632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/>
              <a:t>自我介紹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66" name="Google Shape;166;g3887a3c774a_0_51"/>
          <p:cNvSpPr txBox="1"/>
          <p:nvPr>
            <p:ph idx="1" type="body"/>
          </p:nvPr>
        </p:nvSpPr>
        <p:spPr>
          <a:xfrm>
            <a:off x="1763712" y="1059656"/>
            <a:ext cx="6953100" cy="3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1.班級:     座號:    姓名:            英文名:         畢業國中:     gmail帳號: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zh-TW"/>
              <a:t>2.我的興趣: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zh-TW"/>
              <a:t>3.寫出我記得的班上同學名字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zh-TW"/>
              <a:t>4.我希望三年畢業後成為: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zh-TW"/>
              <a:t>5.我覺得磐石人最重要的特質條件是:    為甚麼?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eee9b23a4_0_20"/>
          <p:cNvSpPr txBox="1"/>
          <p:nvPr>
            <p:ph type="title"/>
          </p:nvPr>
        </p:nvSpPr>
        <p:spPr>
          <a:xfrm>
            <a:off x="2051050" y="226219"/>
            <a:ext cx="6632700" cy="56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7eee9b23a4_0_20"/>
          <p:cNvSpPr txBox="1"/>
          <p:nvPr>
            <p:ph idx="1" type="body"/>
          </p:nvPr>
        </p:nvSpPr>
        <p:spPr>
          <a:xfrm>
            <a:off x="1763712" y="1059656"/>
            <a:ext cx="6953100" cy="32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eee9b23a4_0_25"/>
          <p:cNvSpPr txBox="1"/>
          <p:nvPr>
            <p:ph type="title"/>
          </p:nvPr>
        </p:nvSpPr>
        <p:spPr>
          <a:xfrm>
            <a:off x="2051050" y="226219"/>
            <a:ext cx="6632700" cy="56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7eee9b23a4_0_25"/>
          <p:cNvSpPr txBox="1"/>
          <p:nvPr>
            <p:ph idx="1" type="body"/>
          </p:nvPr>
        </p:nvSpPr>
        <p:spPr>
          <a:xfrm>
            <a:off x="1763712" y="1059656"/>
            <a:ext cx="6953100" cy="32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eee9b23a4_0_30"/>
          <p:cNvSpPr txBox="1"/>
          <p:nvPr>
            <p:ph type="title"/>
          </p:nvPr>
        </p:nvSpPr>
        <p:spPr>
          <a:xfrm>
            <a:off x="2051050" y="226219"/>
            <a:ext cx="6632700" cy="56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7eee9b23a4_0_30"/>
          <p:cNvSpPr txBox="1"/>
          <p:nvPr>
            <p:ph idx="1" type="body"/>
          </p:nvPr>
        </p:nvSpPr>
        <p:spPr>
          <a:xfrm>
            <a:off x="1763712" y="1059656"/>
            <a:ext cx="6953100" cy="32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eee9b23a4_0_0"/>
          <p:cNvSpPr txBox="1"/>
          <p:nvPr>
            <p:ph type="title"/>
          </p:nvPr>
        </p:nvSpPr>
        <p:spPr>
          <a:xfrm>
            <a:off x="2051050" y="226219"/>
            <a:ext cx="6632700" cy="56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7eee9b23a4_0_0"/>
          <p:cNvSpPr txBox="1"/>
          <p:nvPr>
            <p:ph idx="1" type="body"/>
          </p:nvPr>
        </p:nvSpPr>
        <p:spPr>
          <a:xfrm>
            <a:off x="1763712" y="1059656"/>
            <a:ext cx="6953100" cy="32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eee9b23a4_0_5"/>
          <p:cNvSpPr txBox="1"/>
          <p:nvPr>
            <p:ph type="title"/>
          </p:nvPr>
        </p:nvSpPr>
        <p:spPr>
          <a:xfrm>
            <a:off x="2051050" y="226219"/>
            <a:ext cx="6632700" cy="56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7eee9b23a4_0_5"/>
          <p:cNvSpPr txBox="1"/>
          <p:nvPr>
            <p:ph idx="1" type="body"/>
          </p:nvPr>
        </p:nvSpPr>
        <p:spPr>
          <a:xfrm>
            <a:off x="1763712" y="1059656"/>
            <a:ext cx="6953100" cy="32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eee9b23a4_0_10"/>
          <p:cNvSpPr txBox="1"/>
          <p:nvPr>
            <p:ph type="title"/>
          </p:nvPr>
        </p:nvSpPr>
        <p:spPr>
          <a:xfrm>
            <a:off x="2051050" y="226219"/>
            <a:ext cx="6632700" cy="56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7eee9b23a4_0_10"/>
          <p:cNvSpPr txBox="1"/>
          <p:nvPr>
            <p:ph idx="1" type="body"/>
          </p:nvPr>
        </p:nvSpPr>
        <p:spPr>
          <a:xfrm>
            <a:off x="1763712" y="1059656"/>
            <a:ext cx="6953100" cy="32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eee9b23a4_0_15"/>
          <p:cNvSpPr txBox="1"/>
          <p:nvPr>
            <p:ph type="title"/>
          </p:nvPr>
        </p:nvSpPr>
        <p:spPr>
          <a:xfrm>
            <a:off x="2051050" y="226219"/>
            <a:ext cx="6632700" cy="56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7eee9b23a4_0_15"/>
          <p:cNvSpPr txBox="1"/>
          <p:nvPr>
            <p:ph idx="1" type="body"/>
          </p:nvPr>
        </p:nvSpPr>
        <p:spPr>
          <a:xfrm>
            <a:off x="1763712" y="1059656"/>
            <a:ext cx="6953100" cy="32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clipse">
  <a:themeElements>
    <a:clrScheme name="default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33CCCC"/>
      </a:accent4>
      <a:accent5>
        <a:srgbClr val="99CCCC"/>
      </a:accent5>
      <a:accent6>
        <a:srgbClr val="FFFFFF"/>
      </a:accent6>
      <a:hlink>
        <a:srgbClr val="006666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