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Century Gothic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7" roundtripDataSignature="AMtx7mh5b8xjcHNiK9VnVOdFM/ZILxRn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CenturyGothic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CenturyGothic-italic.fntdata"/><Relationship Id="rId12" Type="http://schemas.openxmlformats.org/officeDocument/2006/relationships/slide" Target="slides/slide7.xml"/><Relationship Id="rId34" Type="http://schemas.openxmlformats.org/officeDocument/2006/relationships/font" Target="fonts/CenturyGothic-bold.fntdata"/><Relationship Id="rId15" Type="http://schemas.openxmlformats.org/officeDocument/2006/relationships/slide" Target="slides/slide10.xml"/><Relationship Id="rId37" Type="http://customschemas.google.com/relationships/presentationmetadata" Target="metadata"/><Relationship Id="rId14" Type="http://schemas.openxmlformats.org/officeDocument/2006/relationships/slide" Target="slides/slide9.xml"/><Relationship Id="rId36" Type="http://schemas.openxmlformats.org/officeDocument/2006/relationships/font" Target="fonts/CenturyGothic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c079ab9e2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c079ab9e28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079ab9e28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3c079ab9e28_0_214:notes"/>
          <p:cNvSpPr/>
          <p:nvPr>
            <p:ph idx="2" type="sldImg"/>
          </p:nvPr>
        </p:nvSpPr>
        <p:spPr>
          <a:xfrm>
            <a:off x="380206" y="685800"/>
            <a:ext cx="6097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079ab9e28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c079ab9e28_0_223:notes"/>
          <p:cNvSpPr/>
          <p:nvPr>
            <p:ph idx="2" type="sldImg"/>
          </p:nvPr>
        </p:nvSpPr>
        <p:spPr>
          <a:xfrm>
            <a:off x="380206" y="685800"/>
            <a:ext cx="6097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87a3c774a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887a3c774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079ab9e28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c079ab9e28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c06c83ed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c06c83ed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c06c83edf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c06c83edf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6c83edf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c06c83edf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06c83edf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c06c83edf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c06c83edf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c06c83edf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c06c83edf5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c06c83edf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c06c83edf5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c06c83edf5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c06c83edf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c06c83edf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c06c83edf5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c06c83edf5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c06c83edf5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c06c83edf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9ca8072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f9ca8072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3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3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4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4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4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4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51" name="Google Shape;51;g3c079ab9e28_0_20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477680"/>
            <a:ext cx="7828360" cy="2408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52" name="Google Shape;52;g3c079ab9e28_0_2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370" y="1478426"/>
            <a:ext cx="1202249" cy="10820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g3c079ab9e28_0_201"/>
          <p:cNvSpPr txBox="1"/>
          <p:nvPr>
            <p:ph type="title"/>
          </p:nvPr>
        </p:nvSpPr>
        <p:spPr>
          <a:xfrm>
            <a:off x="510241" y="564921"/>
            <a:ext cx="72105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g3c079ab9e28_0_201"/>
          <p:cNvSpPr txBox="1"/>
          <p:nvPr>
            <p:ph idx="1" type="body"/>
          </p:nvPr>
        </p:nvSpPr>
        <p:spPr>
          <a:xfrm>
            <a:off x="510241" y="1752655"/>
            <a:ext cx="7210500" cy="26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g3c079ab9e28_0_201"/>
          <p:cNvSpPr txBox="1"/>
          <p:nvPr>
            <p:ph idx="10" type="dt"/>
          </p:nvPr>
        </p:nvSpPr>
        <p:spPr>
          <a:xfrm>
            <a:off x="5663236" y="445214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6" name="Google Shape;56;g3c079ab9e28_0_201"/>
          <p:cNvSpPr txBox="1"/>
          <p:nvPr>
            <p:ph idx="11" type="ftr"/>
          </p:nvPr>
        </p:nvSpPr>
        <p:spPr>
          <a:xfrm>
            <a:off x="510241" y="4452141"/>
            <a:ext cx="515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7" name="Google Shape;57;g3c079ab9e28_0_201"/>
          <p:cNvSpPr txBox="1"/>
          <p:nvPr>
            <p:ph idx="12" type="sldNum"/>
          </p:nvPr>
        </p:nvSpPr>
        <p:spPr>
          <a:xfrm>
            <a:off x="8047091" y="564920"/>
            <a:ext cx="8655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showMasterSp="0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c079ab9e28_0_304"/>
          <p:cNvSpPr txBox="1"/>
          <p:nvPr>
            <p:ph type="title"/>
          </p:nvPr>
        </p:nvSpPr>
        <p:spPr>
          <a:xfrm>
            <a:off x="609601" y="3333750"/>
            <a:ext cx="52578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Arial"/>
              <a:buNone/>
              <a:defRPr b="0" sz="4100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g3c079ab9e28_0_304"/>
          <p:cNvSpPr txBox="1"/>
          <p:nvPr>
            <p:ph idx="1" type="body"/>
          </p:nvPr>
        </p:nvSpPr>
        <p:spPr>
          <a:xfrm>
            <a:off x="609601" y="2343150"/>
            <a:ext cx="5257800" cy="97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8E94AB"/>
              </a:buClr>
              <a:buSzPts val="1800"/>
              <a:buNone/>
              <a:defRPr sz="1800">
                <a:solidFill>
                  <a:srgbClr val="8E94AB"/>
                </a:solidFill>
              </a:defRPr>
            </a:lvl2pPr>
            <a:lvl3pPr indent="-228600" lvl="2" marL="13716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8E94AB"/>
              </a:buClr>
              <a:buSzPts val="1600"/>
              <a:buNone/>
              <a:defRPr sz="1600">
                <a:solidFill>
                  <a:srgbClr val="8E94AB"/>
                </a:solidFill>
              </a:defRPr>
            </a:lvl3pPr>
            <a:lvl4pPr indent="-228600" lvl="3" marL="18288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8E94AB"/>
              </a:buClr>
              <a:buSzPts val="1400"/>
              <a:buNone/>
              <a:defRPr sz="1400">
                <a:solidFill>
                  <a:srgbClr val="8E94AB"/>
                </a:solidFill>
              </a:defRPr>
            </a:lvl4pPr>
            <a:lvl5pPr indent="-228600" lvl="4" marL="22860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8E94AB"/>
              </a:buClr>
              <a:buSzPts val="1400"/>
              <a:buNone/>
              <a:defRPr sz="1400">
                <a:solidFill>
                  <a:srgbClr val="8E94AB"/>
                </a:solidFill>
              </a:defRPr>
            </a:lvl5pPr>
            <a:lvl6pPr indent="-228600" lvl="5" marL="27432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8E94AB"/>
              </a:buClr>
              <a:buSzPts val="1300"/>
              <a:buNone/>
              <a:defRPr sz="1400">
                <a:solidFill>
                  <a:srgbClr val="8E94AB"/>
                </a:solidFill>
              </a:defRPr>
            </a:lvl6pPr>
            <a:lvl7pPr indent="-228600" lvl="6" marL="32004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8E94AB"/>
              </a:buClr>
              <a:buSzPts val="1300"/>
              <a:buNone/>
              <a:defRPr sz="1400">
                <a:solidFill>
                  <a:srgbClr val="8E94AB"/>
                </a:solidFill>
              </a:defRPr>
            </a:lvl7pPr>
            <a:lvl8pPr indent="-228600" lvl="7" marL="36576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8E94AB"/>
              </a:buClr>
              <a:buSzPts val="1300"/>
              <a:buNone/>
              <a:defRPr sz="1400">
                <a:solidFill>
                  <a:srgbClr val="8E94AB"/>
                </a:solidFill>
              </a:defRPr>
            </a:lvl8pPr>
            <a:lvl9pPr indent="-228600" lvl="8" marL="4114800" algn="l">
              <a:lnSpc>
                <a:spcPct val="95000"/>
              </a:lnSpc>
              <a:spcBef>
                <a:spcPts val="800"/>
              </a:spcBef>
              <a:spcAft>
                <a:spcPts val="1600"/>
              </a:spcAft>
              <a:buClr>
                <a:srgbClr val="8E94AB"/>
              </a:buClr>
              <a:buSzPts val="1300"/>
              <a:buNone/>
              <a:defRPr sz="1400">
                <a:solidFill>
                  <a:srgbClr val="8E94AB"/>
                </a:solidFill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youtube.com/watch?v=vKhnHAl111Q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079ab9e28_0_5"/>
          <p:cNvSpPr txBox="1"/>
          <p:nvPr>
            <p:ph type="title"/>
          </p:nvPr>
        </p:nvSpPr>
        <p:spPr>
          <a:xfrm>
            <a:off x="510241" y="564921"/>
            <a:ext cx="72105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rebuchet MS"/>
              <a:buNone/>
            </a:pPr>
            <a:r>
              <a:t/>
            </a:r>
            <a:endParaRPr/>
          </a:p>
        </p:txBody>
      </p:sp>
      <p:pic>
        <p:nvPicPr>
          <p:cNvPr id="66" name="Google Shape;66;g3c079ab9e28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8969081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079ab9e28_0_214"/>
          <p:cNvSpPr txBox="1"/>
          <p:nvPr>
            <p:ph type="title"/>
          </p:nvPr>
        </p:nvSpPr>
        <p:spPr>
          <a:xfrm>
            <a:off x="2681297" y="4602788"/>
            <a:ext cx="52578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2" name="Google Shape;72;g3c079ab9e28_0_214"/>
          <p:cNvSpPr txBox="1"/>
          <p:nvPr>
            <p:ph idx="1" type="body"/>
          </p:nvPr>
        </p:nvSpPr>
        <p:spPr>
          <a:xfrm>
            <a:off x="305354" y="573528"/>
            <a:ext cx="5257800" cy="9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2100"/>
              <a:buNone/>
            </a:pPr>
            <a:r>
              <a:rPr lang="zh-TW">
                <a:solidFill>
                  <a:srgbClr val="FF0066"/>
                </a:solidFill>
                <a:latin typeface="Arial"/>
                <a:ea typeface="Arial"/>
                <a:cs typeface="Arial"/>
                <a:sym typeface="Arial"/>
              </a:rPr>
              <a:t>🙛學歷：</a:t>
            </a:r>
            <a:r>
              <a:rPr lang="zh-TW">
                <a:solidFill>
                  <a:srgbClr val="374C81"/>
                </a:solidFill>
              </a:rPr>
              <a:t>國立台灣師範大學家政教育系學士</a:t>
            </a:r>
            <a:endParaRPr>
              <a:solidFill>
                <a:srgbClr val="FF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74C81"/>
              </a:buClr>
              <a:buSzPts val="2100"/>
              <a:buNone/>
            </a:pPr>
            <a:r>
              <a:rPr lang="zh-TW">
                <a:solidFill>
                  <a:srgbClr val="374C81"/>
                </a:solidFill>
              </a:rPr>
              <a:t>國立台灣師範大學家政教育研究所碩士</a:t>
            </a:r>
            <a:endParaRPr>
              <a:solidFill>
                <a:srgbClr val="FF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g3c079ab9e28_0_214"/>
          <p:cNvPicPr preferRelativeResize="0"/>
          <p:nvPr/>
        </p:nvPicPr>
        <p:blipFill rotWithShape="1">
          <a:blip r:embed="rId3">
            <a:alphaModFix/>
          </a:blip>
          <a:srcRect b="0" l="0" r="7425" t="10233"/>
          <a:stretch/>
        </p:blipFill>
        <p:spPr>
          <a:xfrm>
            <a:off x="5814461" y="1360204"/>
            <a:ext cx="2917083" cy="3760113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g3c079ab9e28_0_214"/>
          <p:cNvSpPr txBox="1"/>
          <p:nvPr/>
        </p:nvSpPr>
        <p:spPr>
          <a:xfrm>
            <a:off x="-51475" y="-21274"/>
            <a:ext cx="70764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600"/>
              <a:buFont typeface="Arial"/>
              <a:buNone/>
            </a:pPr>
            <a:r>
              <a:rPr lang="zh-TW" sz="3600">
                <a:solidFill>
                  <a:srgbClr val="7030A0"/>
                </a:solidFill>
              </a:rPr>
              <a:t>學務</a:t>
            </a:r>
            <a:r>
              <a:rPr b="0" i="0" lang="zh-TW" sz="36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主任：陳櫻枝</a:t>
            </a:r>
            <a:endParaRPr b="0" i="0" sz="36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t/>
            </a:r>
            <a:endParaRPr b="0" i="0" sz="45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t/>
            </a:r>
            <a:endParaRPr b="1" i="0" sz="45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500"/>
              <a:buFont typeface="Arial"/>
              <a:buNone/>
            </a:pPr>
            <a:r>
              <a:rPr b="0" i="0" lang="zh-TW" sz="45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endParaRPr b="0" i="0" sz="45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3c079ab9e28_0_214"/>
          <p:cNvSpPr txBox="1"/>
          <p:nvPr/>
        </p:nvSpPr>
        <p:spPr>
          <a:xfrm>
            <a:off x="159717" y="1312874"/>
            <a:ext cx="6104400" cy="37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ct val="100000"/>
              <a:buFont typeface="Arial"/>
              <a:buNone/>
            </a:pPr>
            <a:r>
              <a:rPr b="0" i="0" lang="zh-TW" sz="7400" u="none" cap="none" strike="noStrike">
                <a:solidFill>
                  <a:srgbClr val="FF0066"/>
                </a:solidFill>
                <a:latin typeface="Arial"/>
                <a:ea typeface="Arial"/>
                <a:cs typeface="Arial"/>
                <a:sym typeface="Arial"/>
              </a:rPr>
              <a:t>🙛專業證照：</a:t>
            </a:r>
            <a:endParaRPr b="0" i="0" sz="7400" u="none" cap="none" strike="noStrike">
              <a:solidFill>
                <a:srgbClr val="FF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D60093"/>
              </a:buClr>
              <a:buSzPct val="100000"/>
              <a:buFont typeface="Arial"/>
              <a:buNone/>
            </a:pPr>
            <a:r>
              <a:rPr b="0" i="0" lang="zh-TW" sz="6500" u="none" cap="none" strike="noStrike">
                <a:solidFill>
                  <a:srgbClr val="D600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勞動部技能檢定烘焙乙丙級監評人員</a:t>
            </a:r>
            <a:endParaRPr sz="1100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D60093"/>
              </a:buClr>
              <a:buSzPct val="100000"/>
              <a:buFont typeface="Arial"/>
              <a:buNone/>
            </a:pPr>
            <a:r>
              <a:rPr b="0" i="0" lang="zh-TW" sz="6500" u="none" cap="none" strike="noStrike">
                <a:solidFill>
                  <a:srgbClr val="D600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中餐烹調乙級證照、烘焙乙級證照</a:t>
            </a:r>
            <a:endParaRPr sz="1100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D60093"/>
              </a:buClr>
              <a:buSzPct val="100000"/>
              <a:buFont typeface="Arial"/>
              <a:buNone/>
            </a:pPr>
            <a:r>
              <a:rPr b="0" i="0" lang="zh-TW" sz="6500" u="none" cap="none" strike="noStrike">
                <a:solidFill>
                  <a:srgbClr val="D600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中式麵食乙級證照、英國City &amp; Guilds國際咖啡師證照</a:t>
            </a:r>
            <a:endParaRPr sz="1100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D60093"/>
              </a:buClr>
              <a:buSzPct val="100000"/>
              <a:buFont typeface="Arial"/>
              <a:buNone/>
            </a:pPr>
            <a:r>
              <a:rPr b="0" i="0" lang="zh-TW" sz="6500" u="none" cap="none" strike="noStrike">
                <a:solidFill>
                  <a:srgbClr val="D600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餐旅服務丙級證照、飲料調酒丙級證照</a:t>
            </a:r>
            <a:endParaRPr sz="1100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D60093"/>
              </a:buClr>
              <a:buSzPct val="100000"/>
              <a:buFont typeface="Arial"/>
              <a:buNone/>
            </a:pPr>
            <a:r>
              <a:rPr b="0" i="0" lang="zh-TW" sz="6500" u="none" cap="none" strike="noStrike">
                <a:solidFill>
                  <a:srgbClr val="D600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華語導遊考試及格、華語領隊考試及格</a:t>
            </a:r>
            <a:endParaRPr sz="1100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D60093"/>
              </a:buClr>
              <a:buSzPct val="100000"/>
              <a:buFont typeface="Arial"/>
              <a:buNone/>
            </a:pPr>
            <a:r>
              <a:rPr b="0" i="0" lang="zh-TW" sz="6500" u="none" cap="none" strike="noStrike">
                <a:solidFill>
                  <a:srgbClr val="D600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英語導遊考試及格、英語領隊考試及格</a:t>
            </a:r>
            <a:endParaRPr sz="1100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D60093"/>
              </a:buClr>
              <a:buSzPct val="100000"/>
              <a:buFont typeface="Arial"/>
              <a:buNone/>
            </a:pPr>
            <a:r>
              <a:rPr b="0" i="0" lang="zh-TW" sz="6500" u="none" cap="none" strike="noStrike">
                <a:solidFill>
                  <a:srgbClr val="D600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日語N</a:t>
            </a:r>
            <a:r>
              <a:rPr lang="zh-TW" sz="6500">
                <a:solidFill>
                  <a:srgbClr val="D600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r>
              <a:rPr b="0" i="0" lang="zh-TW" sz="6500" u="none" cap="none" strike="noStrike">
                <a:solidFill>
                  <a:srgbClr val="D600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檢定合格</a:t>
            </a:r>
            <a:endParaRPr b="0" i="0" sz="6500" u="none" cap="none" strike="noStrike">
              <a:solidFill>
                <a:srgbClr val="D6009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D60093"/>
              </a:buClr>
              <a:buSzPct val="100000"/>
              <a:buFont typeface="Arial"/>
              <a:buNone/>
            </a:pPr>
            <a:r>
              <a:rPr b="0" i="0" lang="zh-TW" sz="6500" u="none" cap="none" strike="noStrike">
                <a:solidFill>
                  <a:srgbClr val="D600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客語檢定</a:t>
            </a:r>
            <a:r>
              <a:rPr lang="zh-TW" sz="6500">
                <a:solidFill>
                  <a:srgbClr val="D600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中</a:t>
            </a:r>
            <a:r>
              <a:rPr b="0" i="0" lang="zh-TW" sz="6500" u="none" cap="none" strike="noStrike">
                <a:solidFill>
                  <a:srgbClr val="D600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級合格</a:t>
            </a:r>
            <a:endParaRPr b="0" i="0" sz="6500" u="none" cap="none" strike="noStrike">
              <a:solidFill>
                <a:srgbClr val="D6009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D60093"/>
              </a:buClr>
              <a:buSzPct val="100000"/>
              <a:buFont typeface="Arial"/>
              <a:buNone/>
            </a:pPr>
            <a:r>
              <a:rPr lang="zh-TW" sz="6500">
                <a:solidFill>
                  <a:srgbClr val="D600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閩南語中高級檢定合格</a:t>
            </a:r>
            <a:endParaRPr sz="6500">
              <a:solidFill>
                <a:srgbClr val="D6009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D60093"/>
              </a:buClr>
              <a:buSzPct val="100000"/>
              <a:buFont typeface="Arial"/>
              <a:buNone/>
            </a:pPr>
            <a:r>
              <a:t/>
            </a:r>
            <a:endParaRPr sz="6500">
              <a:solidFill>
                <a:srgbClr val="D6009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D60093"/>
              </a:buClr>
              <a:buSzPct val="100000"/>
              <a:buFont typeface="Arial"/>
              <a:buNone/>
            </a:pPr>
            <a:r>
              <a:t/>
            </a:r>
            <a:endParaRPr sz="6500">
              <a:solidFill>
                <a:srgbClr val="D6009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g3c079ab9e28_0_214"/>
          <p:cNvSpPr txBox="1"/>
          <p:nvPr/>
        </p:nvSpPr>
        <p:spPr>
          <a:xfrm>
            <a:off x="305354" y="4353948"/>
            <a:ext cx="5257800" cy="9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079ab9e28_0_223"/>
          <p:cNvSpPr txBox="1"/>
          <p:nvPr/>
        </p:nvSpPr>
        <p:spPr>
          <a:xfrm>
            <a:off x="259350" y="4407954"/>
            <a:ext cx="5825100" cy="5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ct val="100000"/>
              <a:buFont typeface="Arial"/>
              <a:buNone/>
            </a:pPr>
            <a:r>
              <a:rPr b="0" i="0" lang="zh-TW" sz="2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🙛任教科目：</a:t>
            </a:r>
            <a:r>
              <a:rPr lang="zh-TW" sz="2400">
                <a:solidFill>
                  <a:srgbClr val="008000"/>
                </a:solidFill>
              </a:rPr>
              <a:t>食在有意思、本土語言閩南語</a:t>
            </a:r>
            <a:endParaRPr b="0" i="0" sz="2400" u="none" cap="none" strike="noStrike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g3c079ab9e28_0_223"/>
          <p:cNvSpPr txBox="1"/>
          <p:nvPr/>
        </p:nvSpPr>
        <p:spPr>
          <a:xfrm>
            <a:off x="-73726" y="1"/>
            <a:ext cx="7076400" cy="13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t/>
            </a:r>
            <a:endParaRPr b="0" i="0" sz="45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g3c079ab9e28_0_223"/>
          <p:cNvPicPr preferRelativeResize="0"/>
          <p:nvPr/>
        </p:nvPicPr>
        <p:blipFill rotWithShape="1">
          <a:blip r:embed="rId3">
            <a:alphaModFix/>
          </a:blip>
          <a:srcRect b="0" l="0" r="7425" t="10233"/>
          <a:stretch/>
        </p:blipFill>
        <p:spPr>
          <a:xfrm>
            <a:off x="5868481" y="1383386"/>
            <a:ext cx="2917083" cy="376011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g3c079ab9e28_0_223"/>
          <p:cNvSpPr txBox="1"/>
          <p:nvPr/>
        </p:nvSpPr>
        <p:spPr>
          <a:xfrm>
            <a:off x="-53313" y="4785996"/>
            <a:ext cx="39975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2400"/>
              <a:buFont typeface="Arial"/>
              <a:buNone/>
            </a:pPr>
            <a:br>
              <a:rPr b="0" i="0" lang="zh-TW" sz="2400" u="none" cap="none" strike="noStrike">
                <a:solidFill>
                  <a:srgbClr val="FF0066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zh-TW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400" u="none" cap="none" strike="noStrike">
              <a:solidFill>
                <a:srgbClr val="FF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3c079ab9e28_0_223"/>
          <p:cNvSpPr txBox="1"/>
          <p:nvPr/>
        </p:nvSpPr>
        <p:spPr>
          <a:xfrm>
            <a:off x="186751" y="3038351"/>
            <a:ext cx="51414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3c079ab9e28_0_223"/>
          <p:cNvSpPr txBox="1"/>
          <p:nvPr/>
        </p:nvSpPr>
        <p:spPr>
          <a:xfrm>
            <a:off x="103722" y="287640"/>
            <a:ext cx="6251100" cy="41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ct val="100000"/>
              <a:buFont typeface="Arial"/>
              <a:buNone/>
            </a:pPr>
            <a:r>
              <a:rPr b="0" i="0" lang="zh-TW" sz="9600" u="none" cap="none" strike="noStrike">
                <a:solidFill>
                  <a:srgbClr val="FF006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🙛指導學生獲獎及老師競賽佳績：</a:t>
            </a:r>
            <a:endParaRPr b="0" i="0" sz="9600" u="none" cap="none" strike="noStrike">
              <a:solidFill>
                <a:srgbClr val="FF006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D60093"/>
              </a:buClr>
              <a:buSzPct val="100000"/>
              <a:buFont typeface="Arial"/>
              <a:buNone/>
            </a:pPr>
            <a:r>
              <a:rPr b="0" i="0" lang="zh-TW" sz="6000" u="none" cap="none" strike="noStrike">
                <a:solidFill>
                  <a:srgbClr val="D600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1.79年指導全國創意競賽家政組第一名(寶特瓶再利用)</a:t>
            </a:r>
            <a:endParaRPr b="0" i="0" sz="6000" u="none" cap="none" strike="noStrike">
              <a:solidFill>
                <a:srgbClr val="D6009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D60093"/>
              </a:buClr>
              <a:buSzPct val="100000"/>
              <a:buFont typeface="Arial"/>
              <a:buNone/>
            </a:pPr>
            <a:r>
              <a:rPr b="0" i="0" lang="zh-TW" sz="6000" u="none" cap="none" strike="noStrike">
                <a:solidFill>
                  <a:srgbClr val="D600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2.83年獲教育廳高中職教育論文競賽第2名及獎勵金</a:t>
            </a:r>
            <a:endParaRPr sz="1100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D60093"/>
              </a:buClr>
              <a:buSzPct val="100000"/>
              <a:buFont typeface="Arial"/>
              <a:buNone/>
            </a:pPr>
            <a:r>
              <a:rPr b="0" i="0" lang="zh-TW" sz="6000" u="none" cap="none" strike="noStrike">
                <a:solidFill>
                  <a:srgbClr val="D600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3.88年指導全國農村家政科技藝競賽烹飪職種第一名</a:t>
            </a:r>
            <a:endParaRPr b="0" i="0" sz="6000" u="none" cap="none" strike="noStrike">
              <a:solidFill>
                <a:srgbClr val="D6009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D60093"/>
              </a:buClr>
              <a:buSzPct val="100000"/>
              <a:buFont typeface="Arial"/>
              <a:buNone/>
            </a:pPr>
            <a:r>
              <a:rPr b="0" i="0" lang="zh-TW" sz="6000" u="none" cap="none" strike="noStrike">
                <a:solidFill>
                  <a:srgbClr val="D600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4.90年指導全國農村家政科技藝競賽烹飪職種第四名</a:t>
            </a:r>
            <a:endParaRPr b="0" i="0" sz="6000" u="none" cap="none" strike="noStrike">
              <a:solidFill>
                <a:srgbClr val="D6009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D60093"/>
              </a:buClr>
              <a:buSzPct val="100000"/>
              <a:buFont typeface="Arial"/>
              <a:buNone/>
            </a:pPr>
            <a:r>
              <a:rPr b="0" i="0" lang="zh-TW" sz="6000" u="none" cap="none" strike="noStrike">
                <a:solidFill>
                  <a:srgbClr val="D600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5.91年指導全國農村家政科技藝競賽烹飪職種第三名</a:t>
            </a:r>
            <a:endParaRPr b="0" i="0" sz="6000" u="none" cap="none" strike="noStrike">
              <a:solidFill>
                <a:srgbClr val="D6009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D60093"/>
              </a:buClr>
              <a:buSzPct val="100000"/>
              <a:buFont typeface="Arial"/>
              <a:buNone/>
            </a:pPr>
            <a:r>
              <a:rPr b="0" i="0" lang="zh-TW" sz="6000" u="none" cap="none" strike="noStrike">
                <a:solidFill>
                  <a:srgbClr val="D600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6.93年指導商科技藝競賽烘焙職種第10名</a:t>
            </a:r>
            <a:endParaRPr b="0" i="0" sz="6000" u="none" cap="none" strike="noStrike">
              <a:solidFill>
                <a:srgbClr val="D6009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D60093"/>
              </a:buClr>
              <a:buSzPct val="100000"/>
              <a:buFont typeface="Arial"/>
              <a:buNone/>
            </a:pPr>
            <a:r>
              <a:rPr b="0" i="0" lang="zh-TW" sz="6000" u="none" cap="none" strike="noStrike">
                <a:solidFill>
                  <a:srgbClr val="D600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7.94年指導全國家科技藝競賽烹飪職種第7名、第8名</a:t>
            </a:r>
            <a:endParaRPr b="0" i="0" sz="6000" u="none" cap="none" strike="noStrike">
              <a:solidFill>
                <a:srgbClr val="D6009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D60093"/>
              </a:buClr>
              <a:buSzPct val="100000"/>
              <a:buFont typeface="Arial"/>
              <a:buNone/>
            </a:pPr>
            <a:r>
              <a:rPr b="0" i="0" lang="zh-TW" sz="6000" u="none" cap="none" strike="noStrike">
                <a:solidFill>
                  <a:srgbClr val="D600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8.93-104指導北二區科展佳作3件</a:t>
            </a:r>
            <a:endParaRPr sz="1100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D60093"/>
              </a:buClr>
              <a:buSzPct val="100000"/>
              <a:buFont typeface="Arial"/>
              <a:buNone/>
            </a:pPr>
            <a:r>
              <a:rPr b="0" i="0" lang="zh-TW" sz="6000" u="none" cap="none" strike="noStrike">
                <a:solidFill>
                  <a:srgbClr val="D600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9.指導餐旅類專題製作優勝1件(紅茶茶渣再利用-茶渣吐司製作探討)</a:t>
            </a:r>
            <a:endParaRPr b="0" i="0" sz="6000" u="none" cap="none" strike="noStrike">
              <a:solidFill>
                <a:srgbClr val="D6009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D60093"/>
              </a:buClr>
              <a:buSzPct val="100000"/>
              <a:buFont typeface="Arial"/>
              <a:buNone/>
            </a:pPr>
            <a:r>
              <a:rPr b="0" i="0" lang="zh-TW" sz="6000" u="none" cap="none" strike="noStrike">
                <a:solidFill>
                  <a:srgbClr val="D600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10.105年指導全國家政科技藝競賽手工藝職種優勝</a:t>
            </a:r>
            <a:endParaRPr sz="1100"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br>
              <a:rPr b="0" i="0" lang="zh-TW" sz="5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5400" u="none" cap="none" strike="noStrike">
              <a:solidFill>
                <a:srgbClr val="FF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87a3c774a_0_46"/>
          <p:cNvSpPr txBox="1"/>
          <p:nvPr>
            <p:ph type="title"/>
          </p:nvPr>
        </p:nvSpPr>
        <p:spPr>
          <a:xfrm>
            <a:off x="1225575" y="445025"/>
            <a:ext cx="7606800" cy="30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TW" sz="4100">
                <a:solidFill>
                  <a:srgbClr val="9900FF"/>
                </a:solidFill>
              </a:rPr>
              <a:t>1.填座位表</a:t>
            </a:r>
            <a:endParaRPr sz="41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lang="zh-TW" sz="4100">
                <a:solidFill>
                  <a:srgbClr val="9900FF"/>
                </a:solidFill>
              </a:rPr>
            </a:br>
            <a:r>
              <a:rPr lang="zh-TW" sz="4100">
                <a:solidFill>
                  <a:srgbClr val="9900FF"/>
                </a:solidFill>
              </a:rPr>
              <a:t>2.</a:t>
            </a:r>
            <a:r>
              <a:rPr lang="zh-TW" sz="4100">
                <a:solidFill>
                  <a:srgbClr val="9900FF"/>
                </a:solidFill>
              </a:rPr>
              <a:t>分組時間      6-7人一組</a:t>
            </a:r>
            <a:endParaRPr sz="41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TW" sz="4100">
                <a:solidFill>
                  <a:srgbClr val="9900FF"/>
                </a:solidFill>
              </a:rPr>
              <a:t>                        全班6組</a:t>
            </a:r>
            <a:endParaRPr sz="41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92" name="Google Shape;92;g3887a3c774a_0_46"/>
          <p:cNvSpPr txBox="1"/>
          <p:nvPr>
            <p:ph idx="1" type="body"/>
          </p:nvPr>
        </p:nvSpPr>
        <p:spPr>
          <a:xfrm>
            <a:off x="311700" y="2703225"/>
            <a:ext cx="8520600" cy="18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079ab9e28_0_309"/>
          <p:cNvSpPr txBox="1"/>
          <p:nvPr>
            <p:ph type="title"/>
          </p:nvPr>
        </p:nvSpPr>
        <p:spPr>
          <a:xfrm>
            <a:off x="311700" y="358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900">
                <a:solidFill>
                  <a:srgbClr val="9900FF"/>
                </a:solidFill>
              </a:rPr>
              <a:t>上課約定</a:t>
            </a:r>
            <a:endParaRPr sz="3900">
              <a:solidFill>
                <a:srgbClr val="9900FF"/>
              </a:solidFill>
            </a:endParaRPr>
          </a:p>
        </p:txBody>
      </p:sp>
      <p:sp>
        <p:nvSpPr>
          <p:cNvPr id="98" name="Google Shape;98;g3c079ab9e28_0_309"/>
          <p:cNvSpPr txBox="1"/>
          <p:nvPr>
            <p:ph idx="1" type="body"/>
          </p:nvPr>
        </p:nvSpPr>
        <p:spPr>
          <a:xfrm>
            <a:off x="1120050" y="1135100"/>
            <a:ext cx="7007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00FF"/>
                </a:solidFill>
              </a:rPr>
              <a:t>1.評量:出席情形20%</a:t>
            </a:r>
            <a:endParaRPr sz="23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00FF"/>
                </a:solidFill>
              </a:rPr>
              <a:t>            學習單40%</a:t>
            </a:r>
            <a:endParaRPr sz="23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00FF"/>
                </a:solidFill>
              </a:rPr>
              <a:t>           上課表現40%</a:t>
            </a:r>
            <a:endParaRPr sz="23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00FF"/>
                </a:solidFill>
              </a:rPr>
              <a:t>2.實作材料費:預收150元.多退少補</a:t>
            </a:r>
            <a:endParaRPr sz="23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00FF"/>
                </a:solidFill>
              </a:rPr>
              <a:t>                      下周繳交</a:t>
            </a:r>
            <a:endParaRPr sz="23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rgbClr val="FF00FF"/>
                </a:solidFill>
              </a:rPr>
              <a:t>3.學習單每節下課前收回</a:t>
            </a:r>
            <a:endParaRPr sz="23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1DC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/>
          <p:nvPr>
            <p:ph type="ctrTitle"/>
          </p:nvPr>
        </p:nvSpPr>
        <p:spPr>
          <a:xfrm>
            <a:off x="381633" y="200700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zh-TW">
                <a:solidFill>
                  <a:srgbClr val="FF00FF"/>
                </a:solidFill>
              </a:rPr>
              <a:t>食在有意思</a:t>
            </a:r>
            <a:endParaRPr>
              <a:solidFill>
                <a:srgbClr val="FF00FF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zh-TW">
                <a:solidFill>
                  <a:srgbClr val="FF00FF"/>
                </a:solidFill>
              </a:rPr>
              <a:t>小試身手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104" name="Google Shape;104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TW"/>
              <a:t>小試身手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>
            <p:ph type="ctrTitle"/>
          </p:nvPr>
        </p:nvSpPr>
        <p:spPr>
          <a:xfrm>
            <a:off x="433875" y="0"/>
            <a:ext cx="85206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zh-TW">
                <a:solidFill>
                  <a:srgbClr val="FF00FF"/>
                </a:solidFill>
              </a:rPr>
              <a:t>1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110" name="Google Shape;110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11" name="Google Shape;11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8575" y="733200"/>
            <a:ext cx="8151200" cy="431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>
            <p:ph type="ctrTitle"/>
          </p:nvPr>
        </p:nvSpPr>
        <p:spPr>
          <a:xfrm>
            <a:off x="558913" y="219225"/>
            <a:ext cx="8520600" cy="100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zh-TW">
                <a:solidFill>
                  <a:srgbClr val="FF00FF"/>
                </a:solidFill>
              </a:rPr>
              <a:t>2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117" name="Google Shape;117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18" name="Google Shape;11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6225" y="981687"/>
            <a:ext cx="5305975" cy="530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>
            <p:ph type="ctrTitle"/>
          </p:nvPr>
        </p:nvSpPr>
        <p:spPr>
          <a:xfrm>
            <a:off x="311700" y="316950"/>
            <a:ext cx="85206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zh-TW">
                <a:solidFill>
                  <a:srgbClr val="FF00FF"/>
                </a:solidFill>
              </a:rPr>
              <a:t>3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124" name="Google Shape;124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25" name="Google Shape;12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4025" y="952950"/>
            <a:ext cx="6992474" cy="524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/>
          <p:nvPr>
            <p:ph type="ctrTitle"/>
          </p:nvPr>
        </p:nvSpPr>
        <p:spPr>
          <a:xfrm>
            <a:off x="311700" y="341400"/>
            <a:ext cx="85206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zh-TW">
                <a:solidFill>
                  <a:srgbClr val="FF00FF"/>
                </a:solidFill>
              </a:rPr>
              <a:t>4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131" name="Google Shape;131;p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32" name="Google Shape;13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9499" y="1233900"/>
            <a:ext cx="6863926" cy="457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>
            <p:ph type="ctrTitle"/>
          </p:nvPr>
        </p:nvSpPr>
        <p:spPr>
          <a:xfrm>
            <a:off x="311700" y="133725"/>
            <a:ext cx="8520600" cy="92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zh-TW">
                <a:solidFill>
                  <a:srgbClr val="FF00FF"/>
                </a:solidFill>
              </a:rPr>
              <a:t>5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138" name="Google Shape;138;p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39" name="Google Shape;13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6342" y="897975"/>
            <a:ext cx="6777078" cy="507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/>
          <p:nvPr>
            <p:ph type="title"/>
          </p:nvPr>
        </p:nvSpPr>
        <p:spPr>
          <a:xfrm>
            <a:off x="311700" y="1151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TW" sz="3000">
                <a:solidFill>
                  <a:srgbClr val="FF00FF"/>
                </a:solidFill>
              </a:rPr>
              <a:t>6</a:t>
            </a:r>
            <a:endParaRPr sz="3000">
              <a:solidFill>
                <a:srgbClr val="FF00FF"/>
              </a:solidFill>
            </a:endParaRPr>
          </a:p>
        </p:txBody>
      </p:sp>
      <p:sp>
        <p:nvSpPr>
          <p:cNvPr id="145" name="Google Shape;145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46" name="Google Shape;14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375" y="1017725"/>
            <a:ext cx="7309399" cy="4868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"/>
          <p:cNvSpPr txBox="1"/>
          <p:nvPr>
            <p:ph type="title"/>
          </p:nvPr>
        </p:nvSpPr>
        <p:spPr>
          <a:xfrm>
            <a:off x="311700" y="212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TW">
                <a:solidFill>
                  <a:srgbClr val="FF00FF"/>
                </a:solidFill>
              </a:rPr>
              <a:t>7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152" name="Google Shape;15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53" name="Google Shape;15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952950"/>
            <a:ext cx="6857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TW">
                <a:solidFill>
                  <a:srgbClr val="FF00FF"/>
                </a:solidFill>
              </a:rPr>
              <a:t>8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159" name="Google Shape;15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60" name="Google Shape;16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8525" y="56200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"/>
          <p:cNvSpPr txBox="1"/>
          <p:nvPr>
            <p:ph type="title"/>
          </p:nvPr>
        </p:nvSpPr>
        <p:spPr>
          <a:xfrm>
            <a:off x="397225" y="2007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TW">
                <a:solidFill>
                  <a:srgbClr val="FF00FF"/>
                </a:solidFill>
              </a:rPr>
              <a:t>9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166" name="Google Shape;16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67" name="Google Shape;16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1538" y="661850"/>
            <a:ext cx="6900925" cy="484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6c83edf5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00FF"/>
                </a:solidFill>
              </a:rPr>
              <a:t>10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173" name="Google Shape;173;g3c06c83edf5_0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g3c06c83edf5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4298" y="916298"/>
            <a:ext cx="5342575" cy="355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c06c83edf5_0_6"/>
          <p:cNvSpPr txBox="1"/>
          <p:nvPr>
            <p:ph type="title"/>
          </p:nvPr>
        </p:nvSpPr>
        <p:spPr>
          <a:xfrm>
            <a:off x="311700" y="288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FF00FF"/>
                </a:solidFill>
              </a:rPr>
              <a:t>11</a:t>
            </a:r>
            <a:endParaRPr/>
          </a:p>
        </p:txBody>
      </p:sp>
      <p:sp>
        <p:nvSpPr>
          <p:cNvPr id="180" name="Google Shape;180;g3c06c83edf5_0_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1" name="Google Shape;181;g3c06c83edf5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5075" y="783725"/>
            <a:ext cx="7417675" cy="415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06c83edf5_0_12"/>
          <p:cNvSpPr txBox="1"/>
          <p:nvPr>
            <p:ph type="title"/>
          </p:nvPr>
        </p:nvSpPr>
        <p:spPr>
          <a:xfrm>
            <a:off x="311700" y="78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FF00FF"/>
                </a:solidFill>
              </a:rPr>
              <a:t>12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u="sng">
                <a:solidFill>
                  <a:schemeClr val="hlink"/>
                </a:solidFill>
                <a:hlinkClick r:id="rId3"/>
              </a:rPr>
              <a:t>https://www.youtube.com/watch?v=vKhnHAl111Q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c06c83edf5_0_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8" name="Google Shape;188;g3c06c83edf5_0_12"/>
          <p:cNvPicPr preferRelativeResize="0"/>
          <p:nvPr/>
        </p:nvPicPr>
        <p:blipFill rotWithShape="1">
          <a:blip r:embed="rId4">
            <a:alphaModFix/>
          </a:blip>
          <a:srcRect b="-4040" l="-2140" r="2140" t="4040"/>
          <a:stretch/>
        </p:blipFill>
        <p:spPr>
          <a:xfrm>
            <a:off x="3315275" y="1055750"/>
            <a:ext cx="51435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g3c06c83edf5_0_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1258" y="1055758"/>
            <a:ext cx="3025125" cy="416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c06c83edf5_0_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FF00FF"/>
                </a:solidFill>
              </a:rPr>
              <a:t>13</a:t>
            </a:r>
            <a:endParaRPr/>
          </a:p>
        </p:txBody>
      </p:sp>
      <p:sp>
        <p:nvSpPr>
          <p:cNvPr id="195" name="Google Shape;195;g3c06c83edf5_0_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6" name="Google Shape;196;g3c06c83edf5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9550" y="1017725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c06c83edf5_0_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FF00FF"/>
                </a:solidFill>
              </a:rPr>
              <a:t>14</a:t>
            </a:r>
            <a:endParaRPr/>
          </a:p>
        </p:txBody>
      </p:sp>
      <p:sp>
        <p:nvSpPr>
          <p:cNvPr id="202" name="Google Shape;202;g3c06c83edf5_0_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3" name="Google Shape;203;g3c06c83edf5_0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1987" y="1152475"/>
            <a:ext cx="6020025" cy="400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c06c83edf5_0_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FF00FF"/>
                </a:solidFill>
              </a:rPr>
              <a:t>15</a:t>
            </a:r>
            <a:endParaRPr/>
          </a:p>
        </p:txBody>
      </p:sp>
      <p:sp>
        <p:nvSpPr>
          <p:cNvPr id="209" name="Google Shape;209;g3c06c83edf5_0_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0" name="Google Shape;210;g3c06c83edf5_0_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8300" y="1316300"/>
            <a:ext cx="4555209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c06c83edf5_0_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FF00FF"/>
                </a:solidFill>
              </a:rPr>
              <a:t>16</a:t>
            </a:r>
            <a:endParaRPr/>
          </a:p>
        </p:txBody>
      </p:sp>
      <p:sp>
        <p:nvSpPr>
          <p:cNvPr id="216" name="Google Shape;216;g3c06c83edf5_0_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7" name="Google Shape;217;g3c06c83edf5_0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5674" y="1213550"/>
            <a:ext cx="5246707" cy="392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c06c83edf5_0_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FF00FF"/>
                </a:solidFill>
              </a:rPr>
              <a:t>17</a:t>
            </a:r>
            <a:endParaRPr/>
          </a:p>
        </p:txBody>
      </p:sp>
      <p:sp>
        <p:nvSpPr>
          <p:cNvPr id="223" name="Google Shape;223;g3c06c83edf5_0_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4" name="Google Shape;224;g3c06c83edf5_0_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6875" y="1152475"/>
            <a:ext cx="4555191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c06c83edf5_0_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FF00FF"/>
                </a:solidFill>
              </a:rPr>
              <a:t>18</a:t>
            </a:r>
            <a:endParaRPr/>
          </a:p>
        </p:txBody>
      </p:sp>
      <p:sp>
        <p:nvSpPr>
          <p:cNvPr id="230" name="Google Shape;230;g3c06c83edf5_0_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1" name="Google Shape;231;g3c06c83edf5_0_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7975" y="1152475"/>
            <a:ext cx="5104225" cy="382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c06c83edf5_0_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FF00FF"/>
                </a:solidFill>
              </a:rPr>
              <a:t>19</a:t>
            </a:r>
            <a:endParaRPr/>
          </a:p>
        </p:txBody>
      </p:sp>
      <p:sp>
        <p:nvSpPr>
          <p:cNvPr id="237" name="Google Shape;237;g3c06c83edf5_0_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g3c06c83edf5_0_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4487" y="1263750"/>
            <a:ext cx="5684275" cy="3193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TW">
                <a:solidFill>
                  <a:srgbClr val="FF00FF"/>
                </a:solidFill>
              </a:rPr>
              <a:t>20</a:t>
            </a:r>
            <a:r>
              <a:rPr lang="zh-TW">
                <a:solidFill>
                  <a:srgbClr val="FF00FF"/>
                </a:solidFill>
              </a:rPr>
              <a:t>.校徽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244" name="Google Shape;244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245" name="Google Shape;24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5300" y="1298575"/>
            <a:ext cx="2895600" cy="31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9ca8072ab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f9ca8072ab_0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g3f9ca8072ab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0289" y="0"/>
            <a:ext cx="342342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